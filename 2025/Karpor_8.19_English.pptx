
<file path=[Content_Types].xml><?xml version="1.0" encoding="utf-8"?>
<Types xmlns="http://schemas.openxmlformats.org/package/2006/content-types">
  <Default Extension="gif" ContentType="image/gif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59" r:id="rId3"/>
    <p:sldId id="262" r:id="rId4"/>
    <p:sldId id="279" r:id="rId5"/>
    <p:sldId id="268" r:id="rId6"/>
    <p:sldId id="264" r:id="rId7"/>
    <p:sldId id="263" r:id="rId8"/>
    <p:sldId id="265" r:id="rId9"/>
    <p:sldId id="267" r:id="rId10"/>
    <p:sldId id="269" r:id="rId11"/>
    <p:sldId id="281" r:id="rId12"/>
    <p:sldId id="266" r:id="rId13"/>
    <p:sldId id="270" r:id="rId14"/>
    <p:sldId id="271" r:id="rId15"/>
    <p:sldId id="272" r:id="rId16"/>
    <p:sldId id="280" r:id="rId17"/>
    <p:sldId id="273" r:id="rId18"/>
    <p:sldId id="276" r:id="rId19"/>
    <p:sldId id="277" r:id="rId20"/>
    <p:sldId id="278" r:id="rId21"/>
    <p:sldId id="274" r:id="rId22"/>
    <p:sldId id="275" r:id="rId23"/>
    <p:sldId id="261" r:id="rId2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F1E6"/>
    <a:srgbClr val="0069FF"/>
    <a:srgbClr val="FE35DB"/>
    <a:srgbClr val="FA4DE0"/>
    <a:srgbClr val="FD9AEF"/>
    <a:srgbClr val="C14F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007"/>
    <p:restoredTop sz="83231"/>
  </p:normalViewPr>
  <p:slideViewPr>
    <p:cSldViewPr snapToGrid="0" snapToObjects="1">
      <p:cViewPr varScale="1">
        <p:scale>
          <a:sx n="93" d="100"/>
          <a:sy n="93" d="100"/>
        </p:scale>
        <p:origin x="141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1"/>
            <a:ext cx="3076575" cy="512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92" tIns="45745" rIns="91492" bIns="45745" numCol="1" anchor="t" anchorCtr="0" compatLnSpc="1">
            <a:prstTxWarp prst="textNoShape">
              <a:avLst/>
            </a:prstTxWarp>
          </a:bodyPr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61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9" y="1"/>
            <a:ext cx="3076575" cy="512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92" tIns="45745" rIns="91492" bIns="45745" numCol="1" anchor="t" anchorCtr="0" compatLnSpc="1">
            <a:prstTxWarp prst="textNoShape">
              <a:avLst/>
            </a:prstTxWarp>
          </a:bodyPr>
          <a:lstStyle>
            <a:lvl1pPr algn="r">
              <a:defRPr sz="1100"/>
            </a:lvl1pPr>
          </a:lstStyle>
          <a:p>
            <a:endParaRPr lang="en-US"/>
          </a:p>
        </p:txBody>
      </p:sp>
      <p:sp>
        <p:nvSpPr>
          <p:cNvPr id="104861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0600" y="766763"/>
            <a:ext cx="5118100" cy="38385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104861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4" y="4862514"/>
            <a:ext cx="5680075" cy="46053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92" tIns="45745" rIns="91492" bIns="4574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61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9720264"/>
            <a:ext cx="3076575" cy="512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92" tIns="45745" rIns="91492" bIns="45745" numCol="1" anchor="b" anchorCtr="0" compatLnSpc="1">
            <a:prstTxWarp prst="textNoShape">
              <a:avLst/>
            </a:prstTxWarp>
          </a:bodyPr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61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9" y="9720264"/>
            <a:ext cx="3076575" cy="512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92" tIns="45745" rIns="91492" bIns="45745" numCol="1" anchor="b" anchorCtr="0" compatLnSpc="1">
            <a:prstTxWarp prst="textNoShape">
              <a:avLst/>
            </a:prstTxWarp>
          </a:bodyPr>
          <a:lstStyle>
            <a:lvl1pPr algn="r">
              <a:defRPr sz="1100"/>
            </a:lvl1pPr>
          </a:lstStyle>
          <a:p>
            <a:fld id="{A9A0EA98-5831-4853-B862-C702E6EB345C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8113" y="766763"/>
            <a:ext cx="6823075" cy="383857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A0EA98-5831-4853-B862-C702E6EB345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34044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8113" y="766763"/>
            <a:ext cx="6823075" cy="383857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A0EA98-5831-4853-B862-C702E6EB345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99190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8113" y="766763"/>
            <a:ext cx="6823075" cy="383857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A0EA98-5831-4853-B862-C702E6EB345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895076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8113" y="766763"/>
            <a:ext cx="6823075" cy="383857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A0EA98-5831-4853-B862-C702E6EB345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23789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8113" y="766763"/>
            <a:ext cx="6823075" cy="383857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A0EA98-5831-4853-B862-C702E6EB345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192909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8113" y="766763"/>
            <a:ext cx="6823075" cy="383857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A0EA98-5831-4853-B862-C702E6EB345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34357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8113" y="766763"/>
            <a:ext cx="6823075" cy="383857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A0EA98-5831-4853-B862-C702E6EB345C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008159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8113" y="766763"/>
            <a:ext cx="6823075" cy="383857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A0EA98-5831-4853-B862-C702E6EB345C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759735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8113" y="766763"/>
            <a:ext cx="6823075" cy="383857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A0EA98-5831-4853-B862-C702E6EB345C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502637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8113" y="766763"/>
            <a:ext cx="6823075" cy="383857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A0EA98-5831-4853-B862-C702E6EB345C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19569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8113" y="766763"/>
            <a:ext cx="6823075" cy="383857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A0EA98-5831-4853-B862-C702E6EB345C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523993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8113" y="766763"/>
            <a:ext cx="6823075" cy="383857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A0EA98-5831-4853-B862-C702E6EB345C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443723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8113" y="766763"/>
            <a:ext cx="6823075" cy="383857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A0EA98-5831-4853-B862-C702E6EB345C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040038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8113" y="766763"/>
            <a:ext cx="6823075" cy="383857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A0EA98-5831-4853-B862-C702E6EB345C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700308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8113" y="766763"/>
            <a:ext cx="6823075" cy="383857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A0EA98-5831-4853-B862-C702E6EB345C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794501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8113" y="766763"/>
            <a:ext cx="6823075" cy="383857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A0EA98-5831-4853-B862-C702E6EB345C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17721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2" name="图片 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3" name="图片 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5" name="图片 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4" name="图片 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1048577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1048578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D4D059-7FFF-AB4D-B593-D6A9048B02BE}" type="datetimeFigureOut">
              <a:rPr kumimoji="1" lang="zh-CN" altLang="en-US" smtClean="0"/>
              <a:t>2025/8/18</a:t>
            </a:fld>
            <a:endParaRPr kumimoji="1" lang="zh-CN" altLang="en-US"/>
          </a:p>
        </p:txBody>
      </p:sp>
      <p:sp>
        <p:nvSpPr>
          <p:cNvPr id="1048579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1048580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D2CAFB-14CE-B248-9EE2-D5E2B444A6A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5.png"/><Relationship Id="rId18" Type="http://schemas.openxmlformats.org/officeDocument/2006/relationships/image" Target="../media/image20.png"/><Relationship Id="rId26" Type="http://schemas.openxmlformats.org/officeDocument/2006/relationships/image" Target="../media/image28.png"/><Relationship Id="rId39" Type="http://schemas.openxmlformats.org/officeDocument/2006/relationships/image" Target="../media/image41.png"/><Relationship Id="rId21" Type="http://schemas.openxmlformats.org/officeDocument/2006/relationships/image" Target="../media/image23.png"/><Relationship Id="rId34" Type="http://schemas.openxmlformats.org/officeDocument/2006/relationships/image" Target="../media/image36.png"/><Relationship Id="rId42" Type="http://schemas.openxmlformats.org/officeDocument/2006/relationships/image" Target="../media/image44.png"/><Relationship Id="rId47" Type="http://schemas.openxmlformats.org/officeDocument/2006/relationships/image" Target="../media/image49.svg"/><Relationship Id="rId50" Type="http://schemas.openxmlformats.org/officeDocument/2006/relationships/image" Target="../media/image52.png"/><Relationship Id="rId55" Type="http://schemas.openxmlformats.org/officeDocument/2006/relationships/image" Target="../media/image57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18.svg"/><Relationship Id="rId29" Type="http://schemas.openxmlformats.org/officeDocument/2006/relationships/image" Target="../media/image31.png"/><Relationship Id="rId11" Type="http://schemas.openxmlformats.org/officeDocument/2006/relationships/image" Target="../media/image13.svg"/><Relationship Id="rId24" Type="http://schemas.openxmlformats.org/officeDocument/2006/relationships/image" Target="../media/image26.png"/><Relationship Id="rId32" Type="http://schemas.openxmlformats.org/officeDocument/2006/relationships/image" Target="../media/image34.svg"/><Relationship Id="rId37" Type="http://schemas.openxmlformats.org/officeDocument/2006/relationships/image" Target="../media/image39.svg"/><Relationship Id="rId40" Type="http://schemas.openxmlformats.org/officeDocument/2006/relationships/image" Target="../media/image42.png"/><Relationship Id="rId45" Type="http://schemas.openxmlformats.org/officeDocument/2006/relationships/image" Target="../media/image47.png"/><Relationship Id="rId53" Type="http://schemas.openxmlformats.org/officeDocument/2006/relationships/image" Target="../media/image55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19" Type="http://schemas.openxmlformats.org/officeDocument/2006/relationships/image" Target="../media/image21.png"/><Relationship Id="rId31" Type="http://schemas.openxmlformats.org/officeDocument/2006/relationships/image" Target="../media/image33.png"/><Relationship Id="rId44" Type="http://schemas.openxmlformats.org/officeDocument/2006/relationships/image" Target="../media/image46.svg"/><Relationship Id="rId52" Type="http://schemas.openxmlformats.org/officeDocument/2006/relationships/image" Target="../media/image54.png"/><Relationship Id="rId4" Type="http://schemas.openxmlformats.org/officeDocument/2006/relationships/image" Target="../media/image6.png"/><Relationship Id="rId9" Type="http://schemas.openxmlformats.org/officeDocument/2006/relationships/image" Target="../media/image11.png"/><Relationship Id="rId14" Type="http://schemas.openxmlformats.org/officeDocument/2006/relationships/image" Target="../media/image16.png"/><Relationship Id="rId22" Type="http://schemas.openxmlformats.org/officeDocument/2006/relationships/image" Target="../media/image24.png"/><Relationship Id="rId27" Type="http://schemas.openxmlformats.org/officeDocument/2006/relationships/image" Target="../media/image29.png"/><Relationship Id="rId30" Type="http://schemas.openxmlformats.org/officeDocument/2006/relationships/image" Target="../media/image32.png"/><Relationship Id="rId35" Type="http://schemas.openxmlformats.org/officeDocument/2006/relationships/image" Target="../media/image37.svg"/><Relationship Id="rId43" Type="http://schemas.openxmlformats.org/officeDocument/2006/relationships/image" Target="../media/image45.png"/><Relationship Id="rId48" Type="http://schemas.openxmlformats.org/officeDocument/2006/relationships/image" Target="../media/image50.png"/><Relationship Id="rId8" Type="http://schemas.openxmlformats.org/officeDocument/2006/relationships/image" Target="../media/image10.png"/><Relationship Id="rId51" Type="http://schemas.openxmlformats.org/officeDocument/2006/relationships/image" Target="../media/image53.png"/><Relationship Id="rId3" Type="http://schemas.openxmlformats.org/officeDocument/2006/relationships/image" Target="../media/image5.png"/><Relationship Id="rId12" Type="http://schemas.openxmlformats.org/officeDocument/2006/relationships/image" Target="../media/image14.png"/><Relationship Id="rId17" Type="http://schemas.openxmlformats.org/officeDocument/2006/relationships/image" Target="../media/image19.png"/><Relationship Id="rId25" Type="http://schemas.openxmlformats.org/officeDocument/2006/relationships/image" Target="../media/image27.png"/><Relationship Id="rId33" Type="http://schemas.openxmlformats.org/officeDocument/2006/relationships/image" Target="../media/image35.png"/><Relationship Id="rId38" Type="http://schemas.openxmlformats.org/officeDocument/2006/relationships/image" Target="../media/image40.png"/><Relationship Id="rId46" Type="http://schemas.openxmlformats.org/officeDocument/2006/relationships/image" Target="../media/image48.png"/><Relationship Id="rId20" Type="http://schemas.openxmlformats.org/officeDocument/2006/relationships/image" Target="../media/image22.png"/><Relationship Id="rId41" Type="http://schemas.openxmlformats.org/officeDocument/2006/relationships/image" Target="../media/image43.jpeg"/><Relationship Id="rId54" Type="http://schemas.openxmlformats.org/officeDocument/2006/relationships/image" Target="../media/image56.sv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8.png"/><Relationship Id="rId15" Type="http://schemas.openxmlformats.org/officeDocument/2006/relationships/image" Target="../media/image17.png"/><Relationship Id="rId23" Type="http://schemas.openxmlformats.org/officeDocument/2006/relationships/image" Target="../media/image25.svg"/><Relationship Id="rId28" Type="http://schemas.openxmlformats.org/officeDocument/2006/relationships/image" Target="../media/image30.png"/><Relationship Id="rId36" Type="http://schemas.openxmlformats.org/officeDocument/2006/relationships/image" Target="../media/image38.png"/><Relationship Id="rId49" Type="http://schemas.openxmlformats.org/officeDocument/2006/relationships/image" Target="../media/image5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60.png"/><Relationship Id="rId4" Type="http://schemas.openxmlformats.org/officeDocument/2006/relationships/image" Target="../media/image59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7" Type="http://schemas.openxmlformats.org/officeDocument/2006/relationships/image" Target="../media/image6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5.png"/><Relationship Id="rId5" Type="http://schemas.openxmlformats.org/officeDocument/2006/relationships/image" Target="../media/image64.png"/><Relationship Id="rId4" Type="http://schemas.openxmlformats.org/officeDocument/2006/relationships/image" Target="../media/image6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74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gif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4" Type="http://schemas.openxmlformats.org/officeDocument/2006/relationships/image" Target="../media/image76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gif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video" Target="../media/media3.mp4"/><Relationship Id="rId1" Type="http://schemas.microsoft.com/office/2007/relationships/media" Target="../media/media3.mp4"/><Relationship Id="rId4" Type="http://schemas.openxmlformats.org/officeDocument/2006/relationships/image" Target="../media/image8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5.svg"/><Relationship Id="rId13" Type="http://schemas.openxmlformats.org/officeDocument/2006/relationships/image" Target="../media/image90.png"/><Relationship Id="rId3" Type="http://schemas.openxmlformats.org/officeDocument/2006/relationships/hyperlink" Target="https://github.com/KusionStack/karpor/issues/634" TargetMode="External"/><Relationship Id="rId7" Type="http://schemas.openxmlformats.org/officeDocument/2006/relationships/image" Target="../media/image84.png"/><Relationship Id="rId12" Type="http://schemas.openxmlformats.org/officeDocument/2006/relationships/image" Target="../media/image89.svg"/><Relationship Id="rId17" Type="http://schemas.openxmlformats.org/officeDocument/2006/relationships/image" Target="../media/image94.png"/><Relationship Id="rId2" Type="http://schemas.openxmlformats.org/officeDocument/2006/relationships/notesSlide" Target="../notesSlides/notesSlide15.xml"/><Relationship Id="rId16" Type="http://schemas.openxmlformats.org/officeDocument/2006/relationships/image" Target="../media/image93.svg"/><Relationship Id="rId1" Type="http://schemas.openxmlformats.org/officeDocument/2006/relationships/slideLayout" Target="../slideLayouts/slideLayout3.xml"/><Relationship Id="rId6" Type="http://schemas.openxmlformats.org/officeDocument/2006/relationships/hyperlink" Target="https://github.com/KusionStack/karpor/issues/787" TargetMode="External"/><Relationship Id="rId11" Type="http://schemas.openxmlformats.org/officeDocument/2006/relationships/image" Target="../media/image88.png"/><Relationship Id="rId5" Type="http://schemas.openxmlformats.org/officeDocument/2006/relationships/hyperlink" Target="https://github.com/KusionStack/karpor/issues/790" TargetMode="External"/><Relationship Id="rId15" Type="http://schemas.openxmlformats.org/officeDocument/2006/relationships/image" Target="../media/image92.png"/><Relationship Id="rId10" Type="http://schemas.openxmlformats.org/officeDocument/2006/relationships/image" Target="../media/image87.svg"/><Relationship Id="rId4" Type="http://schemas.openxmlformats.org/officeDocument/2006/relationships/hyperlink" Target="https://github.com/KusionStack/karpor/issues/458" TargetMode="External"/><Relationship Id="rId9" Type="http://schemas.openxmlformats.org/officeDocument/2006/relationships/image" Target="../media/image86.png"/><Relationship Id="rId14" Type="http://schemas.openxmlformats.org/officeDocument/2006/relationships/image" Target="../media/image91.sv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hyperlink" Target="https://kusionstack.io/" TargetMode="External"/><Relationship Id="rId7" Type="http://schemas.openxmlformats.org/officeDocument/2006/relationships/hyperlink" Target="https://@KusionStack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Relationship Id="rId6" Type="http://schemas.openxmlformats.org/officeDocument/2006/relationships/hyperlink" Target="https://blog.kusionstack.io/" TargetMode="External"/><Relationship Id="rId11" Type="http://schemas.openxmlformats.org/officeDocument/2006/relationships/image" Target="../media/image97.jpeg"/><Relationship Id="rId5" Type="http://schemas.openxmlformats.org/officeDocument/2006/relationships/hyperlink" Target="http://kusionstack.slack.com/" TargetMode="External"/><Relationship Id="rId10" Type="http://schemas.openxmlformats.org/officeDocument/2006/relationships/image" Target="../media/image96.png"/><Relationship Id="rId4" Type="http://schemas.openxmlformats.org/officeDocument/2006/relationships/hyperlink" Target="https://github.com/KusionStack/kusion" TargetMode="External"/><Relationship Id="rId9" Type="http://schemas.openxmlformats.org/officeDocument/2006/relationships/image" Target="../media/image95.jpe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1" name="文本框 9"/>
          <p:cNvSpPr txBox="1"/>
          <p:nvPr/>
        </p:nvSpPr>
        <p:spPr>
          <a:xfrm>
            <a:off x="568986" y="2349693"/>
            <a:ext cx="1056185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3600" dirty="0">
                <a:solidFill>
                  <a:schemeClr val="bg1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rPr>
              <a:t>Karpor:</a:t>
            </a:r>
            <a:r>
              <a:rPr kumimoji="1" lang="zh-CN" altLang="en-US" sz="3600" dirty="0">
                <a:solidFill>
                  <a:schemeClr val="bg1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rPr>
              <a:t> </a:t>
            </a:r>
            <a:r>
              <a:rPr kumimoji="1" lang="en-US" altLang="zh-CN" sz="3600" dirty="0">
                <a:solidFill>
                  <a:schemeClr val="bg1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rPr>
              <a:t>Navigating the Multi-Cluster Maze with Ease Using a Kubernetes Explorer</a:t>
            </a:r>
          </a:p>
        </p:txBody>
      </p:sp>
      <p:sp>
        <p:nvSpPr>
          <p:cNvPr id="1048583" name="文本框 11"/>
          <p:cNvSpPr txBox="1"/>
          <p:nvPr/>
        </p:nvSpPr>
        <p:spPr>
          <a:xfrm>
            <a:off x="568986" y="3795253"/>
            <a:ext cx="504978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600" dirty="0">
                <a:solidFill>
                  <a:schemeClr val="bg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Forest Chen</a:t>
            </a:r>
            <a:r>
              <a:rPr kumimoji="1" lang="zh-CN" altLang="en-US" sz="1600" dirty="0">
                <a:solidFill>
                  <a:schemeClr val="bg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 </a:t>
            </a:r>
            <a:r>
              <a:rPr kumimoji="1" lang="en-US" altLang="zh-CN" sz="1600" dirty="0">
                <a:solidFill>
                  <a:schemeClr val="bg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| KusionStack</a:t>
            </a:r>
            <a:r>
              <a:rPr kumimoji="1" lang="zh-CN" altLang="en-US" sz="1600" dirty="0">
                <a:solidFill>
                  <a:schemeClr val="bg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 </a:t>
            </a:r>
            <a:r>
              <a:rPr kumimoji="1" lang="en-US" altLang="zh-CN" sz="1600" dirty="0">
                <a:solidFill>
                  <a:schemeClr val="bg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Maintainer</a:t>
            </a:r>
            <a:r>
              <a:rPr kumimoji="1" lang="zh-CN" altLang="en-US" sz="1600" dirty="0">
                <a:solidFill>
                  <a:schemeClr val="bg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 </a:t>
            </a:r>
            <a:r>
              <a:rPr kumimoji="1" lang="en-US" altLang="zh-CN" sz="1600" dirty="0">
                <a:solidFill>
                  <a:schemeClr val="bg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|</a:t>
            </a:r>
            <a:r>
              <a:rPr kumimoji="1" lang="zh-CN" altLang="en-US" sz="1600" dirty="0">
                <a:solidFill>
                  <a:schemeClr val="bg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 </a:t>
            </a:r>
            <a:r>
              <a:rPr kumimoji="1" lang="en-US" altLang="zh-CN" sz="1600" dirty="0">
                <a:solidFill>
                  <a:schemeClr val="bg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Ant Group</a:t>
            </a:r>
            <a:endParaRPr kumimoji="1" lang="zh-CN" altLang="en-US" sz="1600" dirty="0">
              <a:solidFill>
                <a:schemeClr val="bg1"/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  <p:sp>
        <p:nvSpPr>
          <p:cNvPr id="1048584" name="文本框 14"/>
          <p:cNvSpPr txBox="1"/>
          <p:nvPr/>
        </p:nvSpPr>
        <p:spPr>
          <a:xfrm>
            <a:off x="568986" y="5992797"/>
            <a:ext cx="97654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>
                <a:solidFill>
                  <a:srgbClr val="00F1E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2025.08.19</a:t>
            </a:r>
            <a:endParaRPr kumimoji="1" lang="zh-CN" altLang="en-US" sz="1200" dirty="0">
              <a:solidFill>
                <a:srgbClr val="00F1E6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8" name="文本框 1048627">
            <a:extLst>
              <a:ext uri="{FF2B5EF4-FFF2-40B4-BE49-F238E27FC236}">
                <a16:creationId xmlns:a16="http://schemas.microsoft.com/office/drawing/2014/main" id="{8EEB0FFB-717C-E05B-8790-91A0609DE76B}"/>
              </a:ext>
            </a:extLst>
          </p:cNvPr>
          <p:cNvSpPr txBox="1"/>
          <p:nvPr/>
        </p:nvSpPr>
        <p:spPr>
          <a:xfrm>
            <a:off x="8056754" y="1496122"/>
            <a:ext cx="3635696" cy="4207237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tIns="0" bIns="36000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kumimoji="1" lang="en-US" altLang="zh-CN" sz="1400" b="1" dirty="0">
                <a:solidFill>
                  <a:schemeClr val="bg1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rPr>
              <a:t>What is KusionStack?</a:t>
            </a:r>
          </a:p>
          <a:p>
            <a:pPr algn="l">
              <a:lnSpc>
                <a:spcPct val="150000"/>
              </a:lnSpc>
            </a:pPr>
            <a:r>
              <a:rPr kumimoji="1" lang="en-US" altLang="zh-CN" sz="1400" dirty="0">
                <a:solidFill>
                  <a:schemeClr val="bg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-</a:t>
            </a:r>
            <a:r>
              <a:rPr kumimoji="1" lang="zh-CN" altLang="en-US" sz="1400" dirty="0">
                <a:solidFill>
                  <a:schemeClr val="bg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 </a:t>
            </a:r>
            <a:r>
              <a:rPr kumimoji="1" lang="en-US" altLang="zh-CN" sz="1400" dirty="0">
                <a:solidFill>
                  <a:schemeClr val="bg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Platform Engineering</a:t>
            </a:r>
            <a:r>
              <a:rPr kumimoji="1" lang="zh-CN" altLang="en-US" sz="1400" dirty="0">
                <a:solidFill>
                  <a:schemeClr val="bg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 </a:t>
            </a:r>
            <a:r>
              <a:rPr kumimoji="1" lang="en-US" altLang="zh-CN" sz="1400" dirty="0">
                <a:solidFill>
                  <a:schemeClr val="bg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Building</a:t>
            </a:r>
            <a:r>
              <a:rPr kumimoji="1" lang="zh-CN" altLang="en-US" sz="1400" dirty="0">
                <a:solidFill>
                  <a:schemeClr val="bg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 </a:t>
            </a:r>
            <a:r>
              <a:rPr kumimoji="1" lang="en-US" altLang="zh-CN" sz="1400" dirty="0">
                <a:solidFill>
                  <a:schemeClr val="bg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Blocks</a:t>
            </a:r>
          </a:p>
          <a:p>
            <a:pPr algn="l">
              <a:lnSpc>
                <a:spcPct val="150000"/>
              </a:lnSpc>
            </a:pPr>
            <a:r>
              <a:rPr kumimoji="1" lang="en-US" altLang="zh-CN" sz="1400" dirty="0">
                <a:solidFill>
                  <a:schemeClr val="bg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- Loosely-coupled set of tools</a:t>
            </a:r>
          </a:p>
          <a:p>
            <a:pPr algn="l">
              <a:lnSpc>
                <a:spcPct val="150000"/>
              </a:lnSpc>
            </a:pPr>
            <a:r>
              <a:rPr kumimoji="1" lang="en-US" altLang="zh-CN" sz="1400" dirty="0">
                <a:solidFill>
                  <a:schemeClr val="bg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- Voted into CNCF</a:t>
            </a:r>
            <a:r>
              <a:rPr kumimoji="1" lang="zh-CN" altLang="en-US" sz="1400" dirty="0">
                <a:solidFill>
                  <a:schemeClr val="bg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 </a:t>
            </a:r>
            <a:r>
              <a:rPr kumimoji="1" lang="en-US" altLang="zh-CN" sz="1400" dirty="0">
                <a:solidFill>
                  <a:schemeClr val="bg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Sandbox in 2024</a:t>
            </a:r>
          </a:p>
          <a:p>
            <a:pPr algn="l">
              <a:lnSpc>
                <a:spcPct val="150000"/>
              </a:lnSpc>
            </a:pPr>
            <a:endParaRPr kumimoji="1" lang="en-US" altLang="zh-CN" sz="1400" dirty="0">
              <a:solidFill>
                <a:schemeClr val="bg1"/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  <a:p>
            <a:pPr algn="l">
              <a:lnSpc>
                <a:spcPct val="150000"/>
              </a:lnSpc>
            </a:pPr>
            <a:r>
              <a:rPr kumimoji="1" lang="en-US" altLang="zh-CN" sz="1400" b="1" dirty="0">
                <a:solidFill>
                  <a:schemeClr val="bg1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rPr>
              <a:t>What does it include?</a:t>
            </a:r>
          </a:p>
          <a:p>
            <a:pPr algn="l">
              <a:lnSpc>
                <a:spcPct val="150000"/>
              </a:lnSpc>
            </a:pPr>
            <a:r>
              <a:rPr kumimoji="1" lang="en-US" altLang="zh-CN" sz="1400" dirty="0">
                <a:solidFill>
                  <a:schemeClr val="bg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-</a:t>
            </a:r>
            <a:r>
              <a:rPr kumimoji="1" lang="zh-CN" altLang="en-US" sz="1400" dirty="0">
                <a:solidFill>
                  <a:schemeClr val="bg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 </a:t>
            </a:r>
            <a:r>
              <a:rPr kumimoji="1" lang="en-US" altLang="zh-CN" sz="1400" dirty="0">
                <a:solidFill>
                  <a:schemeClr val="bg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Kusion:</a:t>
            </a:r>
            <a:r>
              <a:rPr kumimoji="1" lang="zh-CN" altLang="en-US" sz="1400" dirty="0">
                <a:solidFill>
                  <a:schemeClr val="bg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 </a:t>
            </a:r>
            <a:r>
              <a:rPr kumimoji="1" lang="en-US" altLang="zh-CN" sz="1400" dirty="0">
                <a:solidFill>
                  <a:schemeClr val="bg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Intent-Driven Platform Orchestrator</a:t>
            </a:r>
          </a:p>
          <a:p>
            <a:pPr algn="l">
              <a:lnSpc>
                <a:spcPct val="150000"/>
              </a:lnSpc>
            </a:pPr>
            <a:r>
              <a:rPr kumimoji="1" lang="en-US" altLang="zh-CN" sz="1400" dirty="0">
                <a:solidFill>
                  <a:schemeClr val="bg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-</a:t>
            </a:r>
            <a:r>
              <a:rPr kumimoji="1" lang="zh-CN" altLang="en-US" sz="1400" dirty="0">
                <a:solidFill>
                  <a:schemeClr val="bg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 </a:t>
            </a:r>
            <a:r>
              <a:rPr kumimoji="1" lang="en-US" altLang="zh-CN" sz="1400" dirty="0">
                <a:solidFill>
                  <a:schemeClr val="bg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Kuperator:</a:t>
            </a:r>
            <a:r>
              <a:rPr kumimoji="1" lang="zh-CN" altLang="en-US" sz="1400" dirty="0">
                <a:solidFill>
                  <a:schemeClr val="bg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 </a:t>
            </a:r>
            <a:r>
              <a:rPr kumimoji="1" lang="en-US" altLang="zh-CN" sz="1400" dirty="0">
                <a:solidFill>
                  <a:schemeClr val="bg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Set of Kubernetes</a:t>
            </a:r>
            <a:r>
              <a:rPr kumimoji="1" lang="zh-CN" altLang="en-US" sz="1400" dirty="0">
                <a:solidFill>
                  <a:schemeClr val="bg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 </a:t>
            </a:r>
            <a:r>
              <a:rPr kumimoji="1" lang="en-US" altLang="zh-CN" sz="1400" dirty="0">
                <a:solidFill>
                  <a:schemeClr val="bg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controller extensions</a:t>
            </a:r>
          </a:p>
          <a:p>
            <a:pPr>
              <a:lnSpc>
                <a:spcPct val="150000"/>
              </a:lnSpc>
            </a:pPr>
            <a:r>
              <a:rPr kumimoji="1" lang="en-US" altLang="zh-CN" sz="1400" dirty="0">
                <a:solidFill>
                  <a:schemeClr val="bg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-</a:t>
            </a:r>
            <a:r>
              <a:rPr kumimoji="1" lang="zh-CN" altLang="en-US" sz="1400" dirty="0">
                <a:solidFill>
                  <a:schemeClr val="bg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 </a:t>
            </a:r>
            <a:r>
              <a:rPr kumimoji="1" lang="en-US" altLang="zh-CN" sz="1400" dirty="0">
                <a:solidFill>
                  <a:schemeClr val="bg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Karpor:</a:t>
            </a:r>
            <a:r>
              <a:rPr kumimoji="1" lang="zh-CN" altLang="en-US" sz="1400" dirty="0">
                <a:solidFill>
                  <a:schemeClr val="bg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 </a:t>
            </a:r>
            <a:r>
              <a:rPr kumimoji="1" lang="en-US" altLang="zh-CN" sz="1400" dirty="0">
                <a:solidFill>
                  <a:schemeClr val="bg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Multi-cluster Kubernetes Dashboard, focused on search &amp; insight</a:t>
            </a:r>
          </a:p>
          <a:p>
            <a:pPr>
              <a:lnSpc>
                <a:spcPct val="150000"/>
              </a:lnSpc>
            </a:pPr>
            <a:r>
              <a:rPr kumimoji="1" lang="en-US" altLang="zh-CN" sz="1400" dirty="0">
                <a:solidFill>
                  <a:schemeClr val="bg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-</a:t>
            </a:r>
            <a:r>
              <a:rPr kumimoji="1" lang="zh-CN" altLang="en-US" sz="1400" dirty="0">
                <a:solidFill>
                  <a:schemeClr val="bg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 </a:t>
            </a:r>
            <a:r>
              <a:rPr kumimoji="1" lang="en-US" altLang="zh-CN" sz="1400" dirty="0">
                <a:solidFill>
                  <a:schemeClr val="bg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…</a:t>
            </a:r>
          </a:p>
        </p:txBody>
      </p:sp>
      <p:sp>
        <p:nvSpPr>
          <p:cNvPr id="1048629" name="圆角矩形 1048628">
            <a:extLst>
              <a:ext uri="{FF2B5EF4-FFF2-40B4-BE49-F238E27FC236}">
                <a16:creationId xmlns:a16="http://schemas.microsoft.com/office/drawing/2014/main" id="{A597E941-F493-82AA-FFDB-38E1C351F7D4}"/>
              </a:ext>
            </a:extLst>
          </p:cNvPr>
          <p:cNvSpPr/>
          <p:nvPr/>
        </p:nvSpPr>
        <p:spPr>
          <a:xfrm>
            <a:off x="8074451" y="4706398"/>
            <a:ext cx="3532298" cy="675568"/>
          </a:xfrm>
          <a:prstGeom prst="roundRect">
            <a:avLst/>
          </a:prstGeom>
          <a:solidFill>
            <a:srgbClr val="0FB9EB">
              <a:alpha val="0"/>
            </a:srgbClr>
          </a:solidFill>
          <a:ln w="28575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highlight>
                <a:srgbClr val="FFFF00"/>
              </a:highlight>
            </a:endParaRPr>
          </a:p>
        </p:txBody>
      </p:sp>
      <p:sp>
        <p:nvSpPr>
          <p:cNvPr id="1048601" name="文本框 3"/>
          <p:cNvSpPr txBox="1"/>
          <p:nvPr/>
        </p:nvSpPr>
        <p:spPr>
          <a:xfrm>
            <a:off x="385763" y="171805"/>
            <a:ext cx="696798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600" b="1" dirty="0">
                <a:solidFill>
                  <a:schemeClr val="bg1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rPr>
              <a:t>KusionStack:</a:t>
            </a:r>
            <a:r>
              <a:rPr kumimoji="1" lang="zh-CN" altLang="en-US" sz="2600" b="1" dirty="0">
                <a:solidFill>
                  <a:schemeClr val="bg1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rPr>
              <a:t> </a:t>
            </a:r>
            <a:r>
              <a:rPr kumimoji="1" lang="en-US" altLang="zh-CN" sz="2600" b="1" dirty="0">
                <a:solidFill>
                  <a:schemeClr val="bg1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rPr>
              <a:t>Platform Engineering Stack</a:t>
            </a:r>
            <a:endParaRPr kumimoji="1" lang="zh-CN" altLang="en-US" sz="2600" b="1" dirty="0">
              <a:solidFill>
                <a:schemeClr val="bg1"/>
              </a:solidFill>
              <a:latin typeface="Alibaba PuHuiTi M" pitchFamily="18" charset="-122"/>
              <a:ea typeface="Alibaba PuHuiTi M" pitchFamily="18" charset="-122"/>
              <a:cs typeface="Alibaba PuHuiTi M" pitchFamily="18" charset="-122"/>
            </a:endParaRPr>
          </a:p>
        </p:txBody>
      </p:sp>
      <p:sp>
        <p:nvSpPr>
          <p:cNvPr id="1048602" name="矩形 4"/>
          <p:cNvSpPr/>
          <p:nvPr/>
        </p:nvSpPr>
        <p:spPr>
          <a:xfrm>
            <a:off x="474186" y="776141"/>
            <a:ext cx="752690" cy="36000"/>
          </a:xfrm>
          <a:prstGeom prst="rect">
            <a:avLst/>
          </a:prstGeom>
          <a:solidFill>
            <a:srgbClr val="00F1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/>
              <a:t> </a:t>
            </a:r>
          </a:p>
        </p:txBody>
      </p:sp>
      <p:sp>
        <p:nvSpPr>
          <p:cNvPr id="1048603" name="矩形 6"/>
          <p:cNvSpPr/>
          <p:nvPr/>
        </p:nvSpPr>
        <p:spPr>
          <a:xfrm>
            <a:off x="474186" y="776140"/>
            <a:ext cx="11412000" cy="18000"/>
          </a:xfrm>
          <a:prstGeom prst="rect">
            <a:avLst/>
          </a:prstGeom>
          <a:solidFill>
            <a:srgbClr val="00F1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/>
              <a:t> </a:t>
            </a: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07577F3C-6CBC-DC0C-26E8-EEBE6F9BBDCF}"/>
              </a:ext>
            </a:extLst>
          </p:cNvPr>
          <p:cNvGrpSpPr>
            <a:grpSpLocks noChangeAspect="1"/>
          </p:cNvGrpSpPr>
          <p:nvPr/>
        </p:nvGrpSpPr>
        <p:grpSpPr>
          <a:xfrm>
            <a:off x="585156" y="1192157"/>
            <a:ext cx="7211088" cy="4889702"/>
            <a:chOff x="1957898" y="520472"/>
            <a:chExt cx="8417897" cy="5708016"/>
          </a:xfrm>
        </p:grpSpPr>
        <p:sp>
          <p:nvSpPr>
            <p:cNvPr id="3" name="Rounded Rectangle 7">
              <a:extLst>
                <a:ext uri="{FF2B5EF4-FFF2-40B4-BE49-F238E27FC236}">
                  <a16:creationId xmlns:a16="http://schemas.microsoft.com/office/drawing/2014/main" id="{1A0E5234-2279-2C54-9423-BFEAB4941C37}"/>
                </a:ext>
              </a:extLst>
            </p:cNvPr>
            <p:cNvSpPr/>
            <p:nvPr/>
          </p:nvSpPr>
          <p:spPr>
            <a:xfrm>
              <a:off x="7754010" y="2353986"/>
              <a:ext cx="2621785" cy="3874502"/>
            </a:xfrm>
            <a:prstGeom prst="roundRect">
              <a:avLst>
                <a:gd name="adj" fmla="val 4013"/>
              </a:avLst>
            </a:prstGeom>
            <a:solidFill>
              <a:srgbClr val="E5E5EC"/>
            </a:solidFill>
            <a:ln w="6350">
              <a:solidFill>
                <a:schemeClr val="bg2">
                  <a:lumMod val="50000"/>
                </a:schemeClr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Rounded Rectangle 25">
              <a:extLst>
                <a:ext uri="{FF2B5EF4-FFF2-40B4-BE49-F238E27FC236}">
                  <a16:creationId xmlns:a16="http://schemas.microsoft.com/office/drawing/2014/main" id="{D27073AA-3334-BF5F-A92B-BECD87957D65}"/>
                </a:ext>
              </a:extLst>
            </p:cNvPr>
            <p:cNvSpPr/>
            <p:nvPr/>
          </p:nvSpPr>
          <p:spPr>
            <a:xfrm>
              <a:off x="8005253" y="2753547"/>
              <a:ext cx="2151476" cy="3340501"/>
            </a:xfrm>
            <a:prstGeom prst="roundRect">
              <a:avLst>
                <a:gd name="adj" fmla="val 4009"/>
              </a:avLst>
            </a:prstGeom>
            <a:solidFill>
              <a:srgbClr val="F6F6F6"/>
            </a:solidFill>
            <a:ln w="19050">
              <a:solidFill>
                <a:srgbClr val="284EF6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Rounded Rectangle 4">
              <a:extLst>
                <a:ext uri="{FF2B5EF4-FFF2-40B4-BE49-F238E27FC236}">
                  <a16:creationId xmlns:a16="http://schemas.microsoft.com/office/drawing/2014/main" id="{00DE8BDE-A67E-2D39-F850-3A17594621A6}"/>
                </a:ext>
              </a:extLst>
            </p:cNvPr>
            <p:cNvSpPr/>
            <p:nvPr/>
          </p:nvSpPr>
          <p:spPr>
            <a:xfrm>
              <a:off x="1958009" y="2353986"/>
              <a:ext cx="5515673" cy="1503976"/>
            </a:xfrm>
            <a:prstGeom prst="roundRect">
              <a:avLst>
                <a:gd name="adj" fmla="val 8895"/>
              </a:avLst>
            </a:prstGeom>
            <a:solidFill>
              <a:srgbClr val="E5E5EC"/>
            </a:solidFill>
            <a:ln w="6350">
              <a:solidFill>
                <a:schemeClr val="bg2">
                  <a:lumMod val="50000"/>
                </a:schemeClr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ounded Rectangle 3">
              <a:extLst>
                <a:ext uri="{FF2B5EF4-FFF2-40B4-BE49-F238E27FC236}">
                  <a16:creationId xmlns:a16="http://schemas.microsoft.com/office/drawing/2014/main" id="{EF2E0C59-86AC-BE2E-FAFD-28E96BE15470}"/>
                </a:ext>
              </a:extLst>
            </p:cNvPr>
            <p:cNvSpPr/>
            <p:nvPr/>
          </p:nvSpPr>
          <p:spPr>
            <a:xfrm>
              <a:off x="1957898" y="904782"/>
              <a:ext cx="8417897" cy="1293043"/>
            </a:xfrm>
            <a:prstGeom prst="roundRect">
              <a:avLst>
                <a:gd name="adj" fmla="val 8895"/>
              </a:avLst>
            </a:prstGeom>
            <a:solidFill>
              <a:srgbClr val="E5E5EC"/>
            </a:solidFill>
            <a:ln w="6350">
              <a:solidFill>
                <a:schemeClr val="bg2">
                  <a:lumMod val="50000"/>
                </a:schemeClr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ounded Rectangle 5">
              <a:extLst>
                <a:ext uri="{FF2B5EF4-FFF2-40B4-BE49-F238E27FC236}">
                  <a16:creationId xmlns:a16="http://schemas.microsoft.com/office/drawing/2014/main" id="{B9BCB7C8-BD38-25C2-5FC5-3B996C6D9EA8}"/>
                </a:ext>
              </a:extLst>
            </p:cNvPr>
            <p:cNvSpPr/>
            <p:nvPr/>
          </p:nvSpPr>
          <p:spPr>
            <a:xfrm>
              <a:off x="1957898" y="4017690"/>
              <a:ext cx="5515784" cy="1008000"/>
            </a:xfrm>
            <a:prstGeom prst="roundRect">
              <a:avLst>
                <a:gd name="adj" fmla="val 8895"/>
              </a:avLst>
            </a:prstGeom>
            <a:solidFill>
              <a:srgbClr val="E5E5EC"/>
            </a:solidFill>
            <a:ln w="6350">
              <a:solidFill>
                <a:schemeClr val="bg2">
                  <a:lumMod val="50000"/>
                </a:schemeClr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ounded Rectangle 6">
              <a:extLst>
                <a:ext uri="{FF2B5EF4-FFF2-40B4-BE49-F238E27FC236}">
                  <a16:creationId xmlns:a16="http://schemas.microsoft.com/office/drawing/2014/main" id="{6BD1117C-DE3D-3662-463D-03382E8377B2}"/>
                </a:ext>
              </a:extLst>
            </p:cNvPr>
            <p:cNvSpPr/>
            <p:nvPr/>
          </p:nvSpPr>
          <p:spPr>
            <a:xfrm>
              <a:off x="1958009" y="5220488"/>
              <a:ext cx="5515673" cy="1008000"/>
            </a:xfrm>
            <a:prstGeom prst="roundRect">
              <a:avLst>
                <a:gd name="adj" fmla="val 8895"/>
              </a:avLst>
            </a:prstGeom>
            <a:solidFill>
              <a:srgbClr val="E5E5EC"/>
            </a:solidFill>
            <a:ln w="6350">
              <a:solidFill>
                <a:schemeClr val="bg2">
                  <a:lumMod val="50000"/>
                </a:schemeClr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文本框 1">
              <a:extLst>
                <a:ext uri="{FF2B5EF4-FFF2-40B4-BE49-F238E27FC236}">
                  <a16:creationId xmlns:a16="http://schemas.microsoft.com/office/drawing/2014/main" id="{D0514C96-B9FF-B0D6-2311-C491E2F4E292}"/>
                </a:ext>
              </a:extLst>
            </p:cNvPr>
            <p:cNvSpPr txBox="1"/>
            <p:nvPr/>
          </p:nvSpPr>
          <p:spPr>
            <a:xfrm>
              <a:off x="3452913" y="520472"/>
              <a:ext cx="5541792" cy="3592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CN" sz="1400" dirty="0">
                  <a:solidFill>
                    <a:schemeClr val="bg1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rPr>
                <a:t>KusionStack for Internal Developer Platforms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EC29F72A-0150-D321-3DB4-7306D67DF6EB}"/>
                </a:ext>
              </a:extLst>
            </p:cNvPr>
            <p:cNvSpPr txBox="1"/>
            <p:nvPr/>
          </p:nvSpPr>
          <p:spPr>
            <a:xfrm>
              <a:off x="2037714" y="1323093"/>
              <a:ext cx="1330917" cy="4345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413385" hangingPunct="0">
                <a:defRPr/>
              </a:pPr>
              <a:r>
                <a:rPr lang="en-US" sz="900" kern="0" dirty="0">
                  <a:solidFill>
                    <a:srgbClr val="000000"/>
                  </a:solidFill>
                  <a:latin typeface="Alibaba PuHuiTi R" pitchFamily="18" charset="-122"/>
                  <a:ea typeface="Alibaba PuHuiTi R" pitchFamily="18" charset="-122"/>
                  <a:cs typeface="Alibaba PuHuiTi R" pitchFamily="18" charset="-122"/>
                  <a:sym typeface="Helvetica Light"/>
                </a:rPr>
                <a:t>Developer Control Plane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FC3CBDE-7B49-777E-DEBD-31F1F26A92E0}"/>
                </a:ext>
              </a:extLst>
            </p:cNvPr>
            <p:cNvSpPr txBox="1"/>
            <p:nvPr/>
          </p:nvSpPr>
          <p:spPr>
            <a:xfrm>
              <a:off x="2038386" y="2886384"/>
              <a:ext cx="1069370" cy="4345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413385" hangingPunct="0">
                <a:defRPr/>
              </a:pPr>
              <a:r>
                <a:rPr lang="en-US" sz="900" kern="0" dirty="0">
                  <a:solidFill>
                    <a:srgbClr val="000000"/>
                  </a:solidFill>
                  <a:latin typeface="Alibaba PuHuiTi R" pitchFamily="18" charset="-122"/>
                  <a:ea typeface="Alibaba PuHuiTi R" pitchFamily="18" charset="-122"/>
                  <a:cs typeface="Alibaba PuHuiTi R" pitchFamily="18" charset="-122"/>
                  <a:sym typeface="Helvetica Light"/>
                </a:rPr>
                <a:t>Integration</a:t>
              </a:r>
            </a:p>
            <a:p>
              <a:pPr defTabSz="413385" hangingPunct="0">
                <a:defRPr/>
              </a:pPr>
              <a:r>
                <a:rPr lang="en-US" sz="900" kern="0" dirty="0">
                  <a:solidFill>
                    <a:srgbClr val="000000"/>
                  </a:solidFill>
                  <a:latin typeface="Alibaba PuHuiTi R" pitchFamily="18" charset="-122"/>
                  <a:ea typeface="Alibaba PuHuiTi R" pitchFamily="18" charset="-122"/>
                  <a:cs typeface="Alibaba PuHuiTi R" pitchFamily="18" charset="-122"/>
                  <a:sym typeface="Helvetica Light"/>
                </a:rPr>
                <a:t>&amp; Delivery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7528F483-A056-767C-787F-05CB2EAB346A}"/>
                </a:ext>
              </a:extLst>
            </p:cNvPr>
            <p:cNvSpPr txBox="1"/>
            <p:nvPr/>
          </p:nvSpPr>
          <p:spPr>
            <a:xfrm>
              <a:off x="2035272" y="4347867"/>
              <a:ext cx="1139023" cy="2715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413385" hangingPunct="0">
                <a:defRPr/>
              </a:pPr>
              <a:r>
                <a:rPr lang="en-US" sz="900" kern="0" dirty="0">
                  <a:solidFill>
                    <a:srgbClr val="000000"/>
                  </a:solidFill>
                  <a:latin typeface="Alibaba PuHuiTi R" pitchFamily="18" charset="-122"/>
                  <a:ea typeface="Alibaba PuHuiTi R" pitchFamily="18" charset="-122"/>
                  <a:cs typeface="Alibaba PuHuiTi R" pitchFamily="18" charset="-122"/>
                  <a:sym typeface="Helvetica Light"/>
                </a:rPr>
                <a:t>Observability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19B7C31B-E476-6C85-6075-70FE726D15FC}"/>
                </a:ext>
              </a:extLst>
            </p:cNvPr>
            <p:cNvSpPr txBox="1"/>
            <p:nvPr/>
          </p:nvSpPr>
          <p:spPr>
            <a:xfrm>
              <a:off x="2036110" y="5506799"/>
              <a:ext cx="1101079" cy="4345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413385" hangingPunct="0">
                <a:defRPr/>
              </a:pPr>
              <a:r>
                <a:rPr lang="en-US" sz="900" kern="0" dirty="0">
                  <a:solidFill>
                    <a:srgbClr val="000000"/>
                  </a:solidFill>
                  <a:latin typeface="Alibaba PuHuiTi R" pitchFamily="18" charset="-122"/>
                  <a:ea typeface="Alibaba PuHuiTi R" pitchFamily="18" charset="-122"/>
                  <a:cs typeface="Alibaba PuHuiTi R" pitchFamily="18" charset="-122"/>
                  <a:sym typeface="Helvetica Light"/>
                </a:rPr>
                <a:t>Reliability &amp; Security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8D5DBD71-DD3A-E24F-BE50-107902ABBED6}"/>
                </a:ext>
              </a:extLst>
            </p:cNvPr>
            <p:cNvSpPr txBox="1"/>
            <p:nvPr/>
          </p:nvSpPr>
          <p:spPr>
            <a:xfrm>
              <a:off x="8283728" y="2421979"/>
              <a:ext cx="1575511" cy="2715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413385" hangingPunct="0">
                <a:defRPr/>
              </a:pPr>
              <a:r>
                <a:rPr lang="en-US" sz="900" kern="0" dirty="0">
                  <a:solidFill>
                    <a:srgbClr val="000000"/>
                  </a:solidFill>
                  <a:latin typeface="Alibaba PuHuiTi R" pitchFamily="18" charset="-122"/>
                  <a:ea typeface="Alibaba PuHuiTi R" pitchFamily="18" charset="-122"/>
                  <a:cs typeface="Alibaba PuHuiTi R" pitchFamily="18" charset="-122"/>
                  <a:sym typeface="Helvetica Light"/>
                </a:rPr>
                <a:t>Resource Plane</a:t>
              </a:r>
            </a:p>
          </p:txBody>
        </p:sp>
        <p:sp>
          <p:nvSpPr>
            <p:cNvPr id="15" name="Rounded Rectangle 14">
              <a:extLst>
                <a:ext uri="{FF2B5EF4-FFF2-40B4-BE49-F238E27FC236}">
                  <a16:creationId xmlns:a16="http://schemas.microsoft.com/office/drawing/2014/main" id="{D5999AE3-3592-DF25-5E58-DB7DC723133D}"/>
                </a:ext>
              </a:extLst>
            </p:cNvPr>
            <p:cNvSpPr/>
            <p:nvPr/>
          </p:nvSpPr>
          <p:spPr>
            <a:xfrm>
              <a:off x="3221567" y="1556663"/>
              <a:ext cx="982984" cy="540000"/>
            </a:xfrm>
            <a:prstGeom prst="roundRect">
              <a:avLst>
                <a:gd name="adj" fmla="val 4009"/>
              </a:avLst>
            </a:prstGeom>
            <a:solidFill>
              <a:srgbClr val="D1D1D8"/>
            </a:solidFill>
            <a:ln w="6350">
              <a:noFill/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ounded Rectangle 15">
              <a:extLst>
                <a:ext uri="{FF2B5EF4-FFF2-40B4-BE49-F238E27FC236}">
                  <a16:creationId xmlns:a16="http://schemas.microsoft.com/office/drawing/2014/main" id="{C636F3D4-CA1D-BEB2-BCED-D6C905E7B5EB}"/>
                </a:ext>
              </a:extLst>
            </p:cNvPr>
            <p:cNvSpPr/>
            <p:nvPr/>
          </p:nvSpPr>
          <p:spPr>
            <a:xfrm>
              <a:off x="4317820" y="1556663"/>
              <a:ext cx="2915952" cy="540000"/>
            </a:xfrm>
            <a:prstGeom prst="roundRect">
              <a:avLst>
                <a:gd name="adj" fmla="val 4009"/>
              </a:avLst>
            </a:prstGeom>
            <a:solidFill>
              <a:srgbClr val="D1D1D8"/>
            </a:solidFill>
            <a:ln w="6350">
              <a:noFill/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ounded Rectangle 16">
              <a:extLst>
                <a:ext uri="{FF2B5EF4-FFF2-40B4-BE49-F238E27FC236}">
                  <a16:creationId xmlns:a16="http://schemas.microsoft.com/office/drawing/2014/main" id="{9F38E8E7-FB28-EC96-F81F-C84735F96194}"/>
                </a:ext>
              </a:extLst>
            </p:cNvPr>
            <p:cNvSpPr/>
            <p:nvPr/>
          </p:nvSpPr>
          <p:spPr>
            <a:xfrm>
              <a:off x="7342413" y="1556663"/>
              <a:ext cx="1402541" cy="540000"/>
            </a:xfrm>
            <a:prstGeom prst="roundRect">
              <a:avLst>
                <a:gd name="adj" fmla="val 4009"/>
              </a:avLst>
            </a:prstGeom>
            <a:solidFill>
              <a:srgbClr val="F6F6F6"/>
            </a:solidFill>
            <a:ln w="19050">
              <a:solidFill>
                <a:srgbClr val="284EF6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FF8148B0-FA9F-B711-D329-41A54B299596}"/>
                </a:ext>
              </a:extLst>
            </p:cNvPr>
            <p:cNvSpPr txBox="1"/>
            <p:nvPr/>
          </p:nvSpPr>
          <p:spPr>
            <a:xfrm>
              <a:off x="3472719" y="1683260"/>
              <a:ext cx="526279" cy="3027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413385" hangingPunct="0">
                <a:defRPr/>
              </a:pPr>
              <a:r>
                <a:rPr lang="en-US" sz="1000" kern="0" dirty="0">
                  <a:solidFill>
                    <a:srgbClr val="000000"/>
                  </a:solidFill>
                  <a:latin typeface="Alibaba PuHuiTi R" pitchFamily="18" charset="-122"/>
                  <a:ea typeface="Alibaba PuHuiTi R" pitchFamily="18" charset="-122"/>
                  <a:cs typeface="Alibaba PuHuiTi R" pitchFamily="18" charset="-122"/>
                  <a:sym typeface="Helvetica Light"/>
                </a:rPr>
                <a:t>IDE</a:t>
              </a:r>
            </a:p>
          </p:txBody>
        </p:sp>
        <p:sp>
          <p:nvSpPr>
            <p:cNvPr id="19" name="Rounded Rectangle 18">
              <a:extLst>
                <a:ext uri="{FF2B5EF4-FFF2-40B4-BE49-F238E27FC236}">
                  <a16:creationId xmlns:a16="http://schemas.microsoft.com/office/drawing/2014/main" id="{79116257-C0F8-E518-010D-D8C77EDF7CAF}"/>
                </a:ext>
              </a:extLst>
            </p:cNvPr>
            <p:cNvSpPr/>
            <p:nvPr/>
          </p:nvSpPr>
          <p:spPr>
            <a:xfrm>
              <a:off x="3214350" y="1008347"/>
              <a:ext cx="7019751" cy="432000"/>
            </a:xfrm>
            <a:prstGeom prst="roundRect">
              <a:avLst>
                <a:gd name="adj" fmla="val 4009"/>
              </a:avLst>
            </a:prstGeom>
            <a:solidFill>
              <a:srgbClr val="F6F6F6"/>
            </a:solidFill>
            <a:ln w="19050">
              <a:solidFill>
                <a:srgbClr val="284EF6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0" name="Rounded Rectangle 27">
              <a:extLst>
                <a:ext uri="{FF2B5EF4-FFF2-40B4-BE49-F238E27FC236}">
                  <a16:creationId xmlns:a16="http://schemas.microsoft.com/office/drawing/2014/main" id="{8DC6F37A-80EF-E973-CBF3-071FEB50E006}"/>
                </a:ext>
              </a:extLst>
            </p:cNvPr>
            <p:cNvSpPr/>
            <p:nvPr/>
          </p:nvSpPr>
          <p:spPr>
            <a:xfrm>
              <a:off x="3221568" y="2555448"/>
              <a:ext cx="982982" cy="1168611"/>
            </a:xfrm>
            <a:prstGeom prst="roundRect">
              <a:avLst>
                <a:gd name="adj" fmla="val 4009"/>
              </a:avLst>
            </a:prstGeom>
            <a:solidFill>
              <a:srgbClr val="D1D1D8"/>
            </a:solidFill>
            <a:ln w="6350">
              <a:noFill/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1" name="TextBox 28">
              <a:extLst>
                <a:ext uri="{FF2B5EF4-FFF2-40B4-BE49-F238E27FC236}">
                  <a16:creationId xmlns:a16="http://schemas.microsoft.com/office/drawing/2014/main" id="{35D3FF07-E01F-1C3A-D9CF-A6998589C2A7}"/>
                </a:ext>
              </a:extLst>
            </p:cNvPr>
            <p:cNvSpPr txBox="1"/>
            <p:nvPr/>
          </p:nvSpPr>
          <p:spPr>
            <a:xfrm>
              <a:off x="3389067" y="2572608"/>
              <a:ext cx="654485" cy="2838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413385" hangingPunct="0">
                <a:defRPr/>
              </a:pPr>
              <a:r>
                <a:rPr lang="en-US" sz="900" kern="0" dirty="0">
                  <a:solidFill>
                    <a:srgbClr val="000000"/>
                  </a:solidFill>
                  <a:latin typeface="Alibaba PuHuiTi R" pitchFamily="18" charset="-122"/>
                  <a:ea typeface="Alibaba PuHuiTi R" pitchFamily="18" charset="-122"/>
                  <a:cs typeface="Alibaba PuHuiTi R" pitchFamily="18" charset="-122"/>
                  <a:sym typeface="Helvetica Light"/>
                </a:rPr>
                <a:t>CI/CD</a:t>
              </a:r>
            </a:p>
          </p:txBody>
        </p:sp>
        <p:sp>
          <p:nvSpPr>
            <p:cNvPr id="22" name="Rounded Rectangle 29">
              <a:extLst>
                <a:ext uri="{FF2B5EF4-FFF2-40B4-BE49-F238E27FC236}">
                  <a16:creationId xmlns:a16="http://schemas.microsoft.com/office/drawing/2014/main" id="{E7E5AC22-BD89-49B2-4858-EF292EC12188}"/>
                </a:ext>
              </a:extLst>
            </p:cNvPr>
            <p:cNvSpPr/>
            <p:nvPr/>
          </p:nvSpPr>
          <p:spPr>
            <a:xfrm>
              <a:off x="4423250" y="2564180"/>
              <a:ext cx="1332000" cy="1168610"/>
            </a:xfrm>
            <a:prstGeom prst="roundRect">
              <a:avLst>
                <a:gd name="adj" fmla="val 4009"/>
              </a:avLst>
            </a:prstGeom>
            <a:solidFill>
              <a:srgbClr val="F6F6F6"/>
            </a:solidFill>
            <a:ln w="19050">
              <a:solidFill>
                <a:srgbClr val="284EF6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ounded Rectangle 30">
              <a:extLst>
                <a:ext uri="{FF2B5EF4-FFF2-40B4-BE49-F238E27FC236}">
                  <a16:creationId xmlns:a16="http://schemas.microsoft.com/office/drawing/2014/main" id="{5D4F52BB-6F63-ED6B-7A66-74FCD32C4B47}"/>
                </a:ext>
              </a:extLst>
            </p:cNvPr>
            <p:cNvSpPr/>
            <p:nvPr/>
          </p:nvSpPr>
          <p:spPr>
            <a:xfrm>
              <a:off x="5935432" y="2559814"/>
              <a:ext cx="1398340" cy="1164245"/>
            </a:xfrm>
            <a:prstGeom prst="roundRect">
              <a:avLst>
                <a:gd name="adj" fmla="val 4009"/>
              </a:avLst>
            </a:prstGeom>
            <a:solidFill>
              <a:srgbClr val="F6F6F6"/>
            </a:solidFill>
            <a:ln w="19050">
              <a:solidFill>
                <a:srgbClr val="284EF6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ounded Rectangle 31">
              <a:extLst>
                <a:ext uri="{FF2B5EF4-FFF2-40B4-BE49-F238E27FC236}">
                  <a16:creationId xmlns:a16="http://schemas.microsoft.com/office/drawing/2014/main" id="{5D60A7FB-897D-A495-F68D-37311B285571}"/>
                </a:ext>
              </a:extLst>
            </p:cNvPr>
            <p:cNvSpPr/>
            <p:nvPr/>
          </p:nvSpPr>
          <p:spPr>
            <a:xfrm>
              <a:off x="3228651" y="4197690"/>
              <a:ext cx="1604604" cy="648000"/>
            </a:xfrm>
            <a:prstGeom prst="roundRect">
              <a:avLst>
                <a:gd name="adj" fmla="val 4009"/>
              </a:avLst>
            </a:prstGeom>
            <a:solidFill>
              <a:srgbClr val="D1D1D8"/>
            </a:solidFill>
            <a:ln w="6350">
              <a:noFill/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5" name="TextBox 32">
              <a:extLst>
                <a:ext uri="{FF2B5EF4-FFF2-40B4-BE49-F238E27FC236}">
                  <a16:creationId xmlns:a16="http://schemas.microsoft.com/office/drawing/2014/main" id="{4B251BED-B09B-6FCD-2EEE-E83F8E3638E2}"/>
                </a:ext>
              </a:extLst>
            </p:cNvPr>
            <p:cNvSpPr txBox="1"/>
            <p:nvPr/>
          </p:nvSpPr>
          <p:spPr>
            <a:xfrm>
              <a:off x="3299865" y="4244465"/>
              <a:ext cx="1532223" cy="2534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413385" hangingPunct="0">
                <a:defRPr/>
              </a:pPr>
              <a:r>
                <a:rPr lang="en-US" sz="800" kern="0" dirty="0">
                  <a:solidFill>
                    <a:srgbClr val="000000"/>
                  </a:solidFill>
                  <a:latin typeface="Alibaba PuHuiTi R" pitchFamily="18" charset="-122"/>
                  <a:ea typeface="Alibaba PuHuiTi R" pitchFamily="18" charset="-122"/>
                  <a:cs typeface="Alibaba PuHuiTi R" pitchFamily="18" charset="-122"/>
                  <a:sym typeface="Helvetica Light"/>
                </a:rPr>
                <a:t>Logging &amp; Monitoring</a:t>
              </a:r>
            </a:p>
          </p:txBody>
        </p:sp>
        <p:sp>
          <p:nvSpPr>
            <p:cNvPr id="26" name="Rounded Rectangle 33">
              <a:extLst>
                <a:ext uri="{FF2B5EF4-FFF2-40B4-BE49-F238E27FC236}">
                  <a16:creationId xmlns:a16="http://schemas.microsoft.com/office/drawing/2014/main" id="{E88BF7F7-84F7-AB94-C5B3-704151132A0F}"/>
                </a:ext>
              </a:extLst>
            </p:cNvPr>
            <p:cNvSpPr/>
            <p:nvPr/>
          </p:nvSpPr>
          <p:spPr>
            <a:xfrm>
              <a:off x="5079079" y="4197690"/>
              <a:ext cx="2253925" cy="648000"/>
            </a:xfrm>
            <a:prstGeom prst="roundRect">
              <a:avLst>
                <a:gd name="adj" fmla="val 4009"/>
              </a:avLst>
            </a:prstGeom>
            <a:solidFill>
              <a:srgbClr val="F6F6F6"/>
            </a:solidFill>
            <a:ln w="19050">
              <a:solidFill>
                <a:srgbClr val="284EF6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ounded Rectangle 34">
              <a:extLst>
                <a:ext uri="{FF2B5EF4-FFF2-40B4-BE49-F238E27FC236}">
                  <a16:creationId xmlns:a16="http://schemas.microsoft.com/office/drawing/2014/main" id="{ADD1657A-082C-650D-F6B8-3E1EA60221AE}"/>
                </a:ext>
              </a:extLst>
            </p:cNvPr>
            <p:cNvSpPr/>
            <p:nvPr/>
          </p:nvSpPr>
          <p:spPr>
            <a:xfrm>
              <a:off x="3244147" y="5400488"/>
              <a:ext cx="981666" cy="648000"/>
            </a:xfrm>
            <a:prstGeom prst="roundRect">
              <a:avLst>
                <a:gd name="adj" fmla="val 4009"/>
              </a:avLst>
            </a:prstGeom>
            <a:solidFill>
              <a:schemeClr val="accent1">
                <a:lumMod val="40000"/>
                <a:lumOff val="60000"/>
              </a:schemeClr>
            </a:solidFill>
            <a:ln w="19050">
              <a:solidFill>
                <a:srgbClr val="284EF6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8" name="Rounded Rectangle 35">
              <a:extLst>
                <a:ext uri="{FF2B5EF4-FFF2-40B4-BE49-F238E27FC236}">
                  <a16:creationId xmlns:a16="http://schemas.microsoft.com/office/drawing/2014/main" id="{FD1B04F6-74B1-6829-4963-5CAD890EFEA8}"/>
                </a:ext>
              </a:extLst>
            </p:cNvPr>
            <p:cNvSpPr/>
            <p:nvPr/>
          </p:nvSpPr>
          <p:spPr>
            <a:xfrm>
              <a:off x="4366045" y="5400488"/>
              <a:ext cx="981666" cy="648000"/>
            </a:xfrm>
            <a:prstGeom prst="roundRect">
              <a:avLst>
                <a:gd name="adj" fmla="val 4009"/>
              </a:avLst>
            </a:prstGeom>
            <a:solidFill>
              <a:srgbClr val="F6F6F6"/>
            </a:solidFill>
            <a:ln w="19050">
              <a:solidFill>
                <a:srgbClr val="284EF6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TextBox 36">
              <a:extLst>
                <a:ext uri="{FF2B5EF4-FFF2-40B4-BE49-F238E27FC236}">
                  <a16:creationId xmlns:a16="http://schemas.microsoft.com/office/drawing/2014/main" id="{92399444-DE06-07F9-BD82-7701A983818D}"/>
                </a:ext>
              </a:extLst>
            </p:cNvPr>
            <p:cNvSpPr txBox="1"/>
            <p:nvPr/>
          </p:nvSpPr>
          <p:spPr>
            <a:xfrm>
              <a:off x="4911695" y="1574635"/>
              <a:ext cx="1699588" cy="2534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413385" hangingPunct="0">
                <a:defRPr/>
              </a:pPr>
              <a:r>
                <a:rPr lang="en-US" sz="800" kern="0" dirty="0">
                  <a:solidFill>
                    <a:srgbClr val="000000"/>
                  </a:solidFill>
                  <a:latin typeface="Alibaba PuHuiTi R" pitchFamily="18" charset="-122"/>
                  <a:ea typeface="Alibaba PuHuiTi R" pitchFamily="18" charset="-122"/>
                  <a:cs typeface="Alibaba PuHuiTi R" pitchFamily="18" charset="-122"/>
                  <a:sym typeface="Helvetica Light"/>
                </a:rPr>
                <a:t>Version Control Systems</a:t>
              </a:r>
            </a:p>
          </p:txBody>
        </p:sp>
        <p:sp>
          <p:nvSpPr>
            <p:cNvPr id="30" name="Rounded Rectangle 37">
              <a:extLst>
                <a:ext uri="{FF2B5EF4-FFF2-40B4-BE49-F238E27FC236}">
                  <a16:creationId xmlns:a16="http://schemas.microsoft.com/office/drawing/2014/main" id="{3048E393-72F3-9397-3718-A2AD006C5188}"/>
                </a:ext>
              </a:extLst>
            </p:cNvPr>
            <p:cNvSpPr/>
            <p:nvPr/>
          </p:nvSpPr>
          <p:spPr>
            <a:xfrm>
              <a:off x="6461539" y="5400488"/>
              <a:ext cx="828000" cy="648000"/>
            </a:xfrm>
            <a:prstGeom prst="roundRect">
              <a:avLst>
                <a:gd name="adj" fmla="val 4009"/>
              </a:avLst>
            </a:prstGeom>
            <a:solidFill>
              <a:srgbClr val="D1D1D8"/>
            </a:solidFill>
            <a:ln w="6350">
              <a:noFill/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TextBox 38">
              <a:extLst>
                <a:ext uri="{FF2B5EF4-FFF2-40B4-BE49-F238E27FC236}">
                  <a16:creationId xmlns:a16="http://schemas.microsoft.com/office/drawing/2014/main" id="{9A94FECE-F572-228A-C0F8-E438D1457829}"/>
                </a:ext>
              </a:extLst>
            </p:cNvPr>
            <p:cNvSpPr txBox="1"/>
            <p:nvPr/>
          </p:nvSpPr>
          <p:spPr>
            <a:xfrm>
              <a:off x="6516877" y="5411465"/>
              <a:ext cx="755558" cy="2649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413385" hangingPunct="0">
                <a:defRPr/>
              </a:pPr>
              <a:r>
                <a:rPr lang="en-US" sz="800" kern="0" dirty="0">
                  <a:solidFill>
                    <a:srgbClr val="000000"/>
                  </a:solidFill>
                  <a:latin typeface="Alibaba PuHuiTi R" pitchFamily="18" charset="-122"/>
                  <a:ea typeface="Alibaba PuHuiTi R" pitchFamily="18" charset="-122"/>
                  <a:cs typeface="Alibaba PuHuiTi R" pitchFamily="18" charset="-122"/>
                  <a:sym typeface="Helvetica Light"/>
                </a:rPr>
                <a:t>Identity</a:t>
              </a:r>
            </a:p>
          </p:txBody>
        </p:sp>
        <p:grpSp>
          <p:nvGrpSpPr>
            <p:cNvPr id="32" name="Group 50">
              <a:extLst>
                <a:ext uri="{FF2B5EF4-FFF2-40B4-BE49-F238E27FC236}">
                  <a16:creationId xmlns:a16="http://schemas.microsoft.com/office/drawing/2014/main" id="{906E6AF9-3F6D-9F7C-3C5B-C7B087E5DF03}"/>
                </a:ext>
              </a:extLst>
            </p:cNvPr>
            <p:cNvGrpSpPr/>
            <p:nvPr/>
          </p:nvGrpSpPr>
          <p:grpSpPr>
            <a:xfrm>
              <a:off x="4380669" y="1818276"/>
              <a:ext cx="716833" cy="216000"/>
              <a:chOff x="2765081" y="2240306"/>
              <a:chExt cx="716833" cy="216000"/>
            </a:xfrm>
          </p:grpSpPr>
          <p:pic>
            <p:nvPicPr>
              <p:cNvPr id="1048626" name="Picture 19">
                <a:extLst>
                  <a:ext uri="{FF2B5EF4-FFF2-40B4-BE49-F238E27FC236}">
                    <a16:creationId xmlns:a16="http://schemas.microsoft.com/office/drawing/2014/main" id="{A479A0CC-EEB9-1198-59E4-AB5F1A19A64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765081" y="2258306"/>
                <a:ext cx="180000" cy="180000"/>
              </a:xfrm>
              <a:prstGeom prst="rect">
                <a:avLst/>
              </a:prstGeom>
            </p:spPr>
          </p:pic>
          <p:pic>
            <p:nvPicPr>
              <p:cNvPr id="1048627" name="Picture 21">
                <a:extLst>
                  <a:ext uri="{FF2B5EF4-FFF2-40B4-BE49-F238E27FC236}">
                    <a16:creationId xmlns:a16="http://schemas.microsoft.com/office/drawing/2014/main" id="{AF07992F-F656-2671-8B1A-923F460F09C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955086" y="2240306"/>
                <a:ext cx="526828" cy="216000"/>
              </a:xfrm>
              <a:prstGeom prst="rect">
                <a:avLst/>
              </a:prstGeom>
            </p:spPr>
          </p:pic>
        </p:grpSp>
        <p:pic>
          <p:nvPicPr>
            <p:cNvPr id="33" name="Picture 47">
              <a:extLst>
                <a:ext uri="{FF2B5EF4-FFF2-40B4-BE49-F238E27FC236}">
                  <a16:creationId xmlns:a16="http://schemas.microsoft.com/office/drawing/2014/main" id="{6ED1B4DE-4FBE-E2EA-6161-A60F199329F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298897" y="1845276"/>
              <a:ext cx="740725" cy="162000"/>
            </a:xfrm>
            <a:prstGeom prst="rect">
              <a:avLst/>
            </a:prstGeom>
          </p:spPr>
        </p:pic>
        <p:pic>
          <p:nvPicPr>
            <p:cNvPr id="34" name="Picture 49">
              <a:extLst>
                <a:ext uri="{FF2B5EF4-FFF2-40B4-BE49-F238E27FC236}">
                  <a16:creationId xmlns:a16="http://schemas.microsoft.com/office/drawing/2014/main" id="{C41FDB3C-7E0B-C390-D6D3-F0FBC514C6C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241017" y="1836276"/>
              <a:ext cx="900000" cy="180000"/>
            </a:xfrm>
            <a:prstGeom prst="rect">
              <a:avLst/>
            </a:prstGeom>
          </p:spPr>
        </p:pic>
        <p:pic>
          <p:nvPicPr>
            <p:cNvPr id="35" name="Picture 52">
              <a:extLst>
                <a:ext uri="{FF2B5EF4-FFF2-40B4-BE49-F238E27FC236}">
                  <a16:creationId xmlns:a16="http://schemas.microsoft.com/office/drawing/2014/main" id="{B67CE5DE-30AC-4C6F-B141-7C9D4C43432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291222" y="2834361"/>
              <a:ext cx="216000" cy="216000"/>
            </a:xfrm>
            <a:prstGeom prst="rect">
              <a:avLst/>
            </a:prstGeom>
          </p:spPr>
        </p:pic>
        <p:pic>
          <p:nvPicPr>
            <p:cNvPr id="36" name="Picture 54">
              <a:extLst>
                <a:ext uri="{FF2B5EF4-FFF2-40B4-BE49-F238E27FC236}">
                  <a16:creationId xmlns:a16="http://schemas.microsoft.com/office/drawing/2014/main" id="{563DCE90-EE1A-20C6-9B37-C810DED5593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3530231" y="2762361"/>
              <a:ext cx="360000" cy="360000"/>
            </a:xfrm>
            <a:prstGeom prst="rect">
              <a:avLst/>
            </a:prstGeom>
          </p:spPr>
        </p:pic>
        <p:pic>
          <p:nvPicPr>
            <p:cNvPr id="37" name="Picture 56">
              <a:extLst>
                <a:ext uri="{FF2B5EF4-FFF2-40B4-BE49-F238E27FC236}">
                  <a16:creationId xmlns:a16="http://schemas.microsoft.com/office/drawing/2014/main" id="{89792447-64C8-2B4C-1AD3-73ECA86F2487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3896408" y="2834361"/>
              <a:ext cx="213945" cy="216000"/>
            </a:xfrm>
            <a:prstGeom prst="rect">
              <a:avLst/>
            </a:prstGeom>
          </p:spPr>
        </p:pic>
        <p:pic>
          <p:nvPicPr>
            <p:cNvPr id="38" name="Picture 58">
              <a:extLst>
                <a:ext uri="{FF2B5EF4-FFF2-40B4-BE49-F238E27FC236}">
                  <a16:creationId xmlns:a16="http://schemas.microsoft.com/office/drawing/2014/main" id="{61186709-B63E-DAE5-7840-EEFE878F0D59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3307770" y="3135217"/>
              <a:ext cx="182904" cy="252000"/>
            </a:xfrm>
            <a:prstGeom prst="rect">
              <a:avLst/>
            </a:prstGeom>
          </p:spPr>
        </p:pic>
        <p:pic>
          <p:nvPicPr>
            <p:cNvPr id="39" name="Graphic 60">
              <a:extLst>
                <a:ext uri="{FF2B5EF4-FFF2-40B4-BE49-F238E27FC236}">
                  <a16:creationId xmlns:a16="http://schemas.microsoft.com/office/drawing/2014/main" id="{6B3A3B9D-126E-F58F-D4CF-5A3F7E5AC860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3584231" y="3135217"/>
              <a:ext cx="252000" cy="252000"/>
            </a:xfrm>
            <a:prstGeom prst="rect">
              <a:avLst/>
            </a:prstGeom>
          </p:spPr>
        </p:pic>
        <p:pic>
          <p:nvPicPr>
            <p:cNvPr id="40" name="Picture 62">
              <a:extLst>
                <a:ext uri="{FF2B5EF4-FFF2-40B4-BE49-F238E27FC236}">
                  <a16:creationId xmlns:a16="http://schemas.microsoft.com/office/drawing/2014/main" id="{A64E3CCF-1EE8-7A05-6623-25E60C6B91B8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3859380" y="3117217"/>
              <a:ext cx="288000" cy="288000"/>
            </a:xfrm>
            <a:prstGeom prst="rect">
              <a:avLst/>
            </a:prstGeom>
          </p:spPr>
        </p:pic>
        <p:pic>
          <p:nvPicPr>
            <p:cNvPr id="41" name="Picture 64">
              <a:extLst>
                <a:ext uri="{FF2B5EF4-FFF2-40B4-BE49-F238E27FC236}">
                  <a16:creationId xmlns:a16="http://schemas.microsoft.com/office/drawing/2014/main" id="{C98FBF03-68ED-ECB3-C4ED-456999789939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3849839" y="3446131"/>
              <a:ext cx="230882" cy="216000"/>
            </a:xfrm>
            <a:prstGeom prst="rect">
              <a:avLst/>
            </a:prstGeom>
          </p:spPr>
        </p:pic>
        <p:pic>
          <p:nvPicPr>
            <p:cNvPr id="42" name="Picture 66">
              <a:extLst>
                <a:ext uri="{FF2B5EF4-FFF2-40B4-BE49-F238E27FC236}">
                  <a16:creationId xmlns:a16="http://schemas.microsoft.com/office/drawing/2014/main" id="{A9EC6033-AB6C-E17E-2E10-E2F444665581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3566231" y="3410131"/>
              <a:ext cx="288000" cy="288000"/>
            </a:xfrm>
            <a:prstGeom prst="rect">
              <a:avLst/>
            </a:prstGeom>
          </p:spPr>
        </p:pic>
        <p:pic>
          <p:nvPicPr>
            <p:cNvPr id="43" name="Graphic 68">
              <a:extLst>
                <a:ext uri="{FF2B5EF4-FFF2-40B4-BE49-F238E27FC236}">
                  <a16:creationId xmlns:a16="http://schemas.microsoft.com/office/drawing/2014/main" id="{BEF57CF6-8D90-3515-736E-DDB73C8D760B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3291222" y="3446131"/>
              <a:ext cx="216000" cy="216000"/>
            </a:xfrm>
            <a:prstGeom prst="rect">
              <a:avLst/>
            </a:prstGeom>
          </p:spPr>
        </p:pic>
        <p:pic>
          <p:nvPicPr>
            <p:cNvPr id="44" name="Picture 70">
              <a:extLst>
                <a:ext uri="{FF2B5EF4-FFF2-40B4-BE49-F238E27FC236}">
                  <a16:creationId xmlns:a16="http://schemas.microsoft.com/office/drawing/2014/main" id="{9E943A81-8867-31D7-9EDD-466A41B82BEA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3306313" y="4498737"/>
              <a:ext cx="269002" cy="288000"/>
            </a:xfrm>
            <a:prstGeom prst="rect">
              <a:avLst/>
            </a:prstGeom>
          </p:spPr>
        </p:pic>
        <p:pic>
          <p:nvPicPr>
            <p:cNvPr id="45" name="Picture 72">
              <a:extLst>
                <a:ext uri="{FF2B5EF4-FFF2-40B4-BE49-F238E27FC236}">
                  <a16:creationId xmlns:a16="http://schemas.microsoft.com/office/drawing/2014/main" id="{335E1665-798F-D77C-3C94-11D46F2D4D42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/>
            <a:stretch>
              <a:fillRect/>
            </a:stretch>
          </p:blipFill>
          <p:spPr>
            <a:xfrm>
              <a:off x="3677176" y="4516737"/>
              <a:ext cx="254210" cy="252000"/>
            </a:xfrm>
            <a:prstGeom prst="rect">
              <a:avLst/>
            </a:prstGeom>
          </p:spPr>
        </p:pic>
        <p:pic>
          <p:nvPicPr>
            <p:cNvPr id="46" name="Picture 76">
              <a:extLst>
                <a:ext uri="{FF2B5EF4-FFF2-40B4-BE49-F238E27FC236}">
                  <a16:creationId xmlns:a16="http://schemas.microsoft.com/office/drawing/2014/main" id="{190A6942-B667-CF7E-7421-DDF193281BB8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/>
            <a:stretch>
              <a:fillRect/>
            </a:stretch>
          </p:blipFill>
          <p:spPr>
            <a:xfrm>
              <a:off x="4023869" y="4516737"/>
              <a:ext cx="355345" cy="255600"/>
            </a:xfrm>
            <a:prstGeom prst="rect">
              <a:avLst/>
            </a:prstGeom>
          </p:spPr>
        </p:pic>
        <p:pic>
          <p:nvPicPr>
            <p:cNvPr id="47" name="Picture 80">
              <a:extLst>
                <a:ext uri="{FF2B5EF4-FFF2-40B4-BE49-F238E27FC236}">
                  <a16:creationId xmlns:a16="http://schemas.microsoft.com/office/drawing/2014/main" id="{613EB498-9159-313F-8549-AC9351493604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>
              <a:off x="4449105" y="4498737"/>
              <a:ext cx="282483" cy="288000"/>
            </a:xfrm>
            <a:prstGeom prst="rect">
              <a:avLst/>
            </a:prstGeom>
          </p:spPr>
        </p:pic>
        <p:pic>
          <p:nvPicPr>
            <p:cNvPr id="48" name="Picture 82">
              <a:extLst>
                <a:ext uri="{FF2B5EF4-FFF2-40B4-BE49-F238E27FC236}">
                  <a16:creationId xmlns:a16="http://schemas.microsoft.com/office/drawing/2014/main" id="{B9558B8A-EAF1-8A78-D0F8-3DFF6C1FDCF5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/>
            <a:stretch>
              <a:fillRect/>
            </a:stretch>
          </p:blipFill>
          <p:spPr>
            <a:xfrm>
              <a:off x="6511266" y="5695551"/>
              <a:ext cx="481134" cy="252000"/>
            </a:xfrm>
            <a:prstGeom prst="rect">
              <a:avLst/>
            </a:prstGeom>
          </p:spPr>
        </p:pic>
        <p:pic>
          <p:nvPicPr>
            <p:cNvPr id="49" name="Graphic 84">
              <a:extLst>
                <a:ext uri="{FF2B5EF4-FFF2-40B4-BE49-F238E27FC236}">
                  <a16:creationId xmlns:a16="http://schemas.microsoft.com/office/drawing/2014/main" id="{EC590317-1DE2-A632-57DA-33F4E11471CE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/>
            </a:stretch>
          </p:blipFill>
          <p:spPr>
            <a:xfrm>
              <a:off x="7004573" y="5695551"/>
              <a:ext cx="252000" cy="252000"/>
            </a:xfrm>
            <a:prstGeom prst="rect">
              <a:avLst/>
            </a:prstGeom>
          </p:spPr>
        </p:pic>
        <p:pic>
          <p:nvPicPr>
            <p:cNvPr id="50" name="Picture 86">
              <a:extLst>
                <a:ext uri="{FF2B5EF4-FFF2-40B4-BE49-F238E27FC236}">
                  <a16:creationId xmlns:a16="http://schemas.microsoft.com/office/drawing/2014/main" id="{5B1907D1-0CBF-F2B4-1938-6806635F2F78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/>
            <a:stretch>
              <a:fillRect/>
            </a:stretch>
          </p:blipFill>
          <p:spPr>
            <a:xfrm>
              <a:off x="8341817" y="4269100"/>
              <a:ext cx="359631" cy="214936"/>
            </a:xfrm>
            <a:prstGeom prst="rect">
              <a:avLst/>
            </a:prstGeom>
          </p:spPr>
        </p:pic>
        <p:pic>
          <p:nvPicPr>
            <p:cNvPr id="51" name="Picture 88">
              <a:extLst>
                <a:ext uri="{FF2B5EF4-FFF2-40B4-BE49-F238E27FC236}">
                  <a16:creationId xmlns:a16="http://schemas.microsoft.com/office/drawing/2014/main" id="{2E3C04E3-85F1-B001-8D45-9143765DE39E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/>
            <a:stretch>
              <a:fillRect/>
            </a:stretch>
          </p:blipFill>
          <p:spPr>
            <a:xfrm>
              <a:off x="8315485" y="4668398"/>
              <a:ext cx="1515023" cy="202003"/>
            </a:xfrm>
            <a:prstGeom prst="rect">
              <a:avLst/>
            </a:prstGeom>
          </p:spPr>
        </p:pic>
        <p:pic>
          <p:nvPicPr>
            <p:cNvPr id="52" name="Picture 100">
              <a:extLst>
                <a:ext uri="{FF2B5EF4-FFF2-40B4-BE49-F238E27FC236}">
                  <a16:creationId xmlns:a16="http://schemas.microsoft.com/office/drawing/2014/main" id="{B49BC2CA-A43A-53BB-5A98-A1F6E300A8FC}"/>
                </a:ext>
              </a:extLst>
            </p:cNvPr>
            <p:cNvPicPr>
              <a:picLocks noChangeAspect="1"/>
            </p:cNvPicPr>
            <p:nvPr/>
          </p:nvPicPr>
          <p:blipFill>
            <a:blip r:embed="rId26"/>
            <a:stretch>
              <a:fillRect/>
            </a:stretch>
          </p:blipFill>
          <p:spPr>
            <a:xfrm>
              <a:off x="8298197" y="5613466"/>
              <a:ext cx="956740" cy="272351"/>
            </a:xfrm>
            <a:prstGeom prst="rect">
              <a:avLst/>
            </a:prstGeom>
          </p:spPr>
        </p:pic>
        <p:pic>
          <p:nvPicPr>
            <p:cNvPr id="53" name="Picture 102">
              <a:extLst>
                <a:ext uri="{FF2B5EF4-FFF2-40B4-BE49-F238E27FC236}">
                  <a16:creationId xmlns:a16="http://schemas.microsoft.com/office/drawing/2014/main" id="{1BDCF874-D818-DC9C-B2CD-BDCF73E4320D}"/>
                </a:ext>
              </a:extLst>
            </p:cNvPr>
            <p:cNvPicPr>
              <a:picLocks noChangeAspect="1"/>
            </p:cNvPicPr>
            <p:nvPr/>
          </p:nvPicPr>
          <p:blipFill>
            <a:blip r:embed="rId27"/>
            <a:stretch>
              <a:fillRect/>
            </a:stretch>
          </p:blipFill>
          <p:spPr>
            <a:xfrm>
              <a:off x="8356041" y="5320593"/>
              <a:ext cx="732190" cy="252000"/>
            </a:xfrm>
            <a:prstGeom prst="rect">
              <a:avLst/>
            </a:prstGeom>
          </p:spPr>
        </p:pic>
        <p:pic>
          <p:nvPicPr>
            <p:cNvPr id="54" name="Picture 108">
              <a:extLst>
                <a:ext uri="{FF2B5EF4-FFF2-40B4-BE49-F238E27FC236}">
                  <a16:creationId xmlns:a16="http://schemas.microsoft.com/office/drawing/2014/main" id="{96CCF0EF-480D-9FE0-BD89-7A052C7BE5A7}"/>
                </a:ext>
              </a:extLst>
            </p:cNvPr>
            <p:cNvPicPr>
              <a:picLocks noChangeAspect="1"/>
            </p:cNvPicPr>
            <p:nvPr/>
          </p:nvPicPr>
          <p:blipFill>
            <a:blip r:embed="rId28"/>
            <a:stretch>
              <a:fillRect/>
            </a:stretch>
          </p:blipFill>
          <p:spPr>
            <a:xfrm>
              <a:off x="8334484" y="2982155"/>
              <a:ext cx="1460339" cy="730170"/>
            </a:xfrm>
            <a:prstGeom prst="rect">
              <a:avLst/>
            </a:prstGeom>
          </p:spPr>
        </p:pic>
        <p:pic>
          <p:nvPicPr>
            <p:cNvPr id="55" name="Picture 112">
              <a:extLst>
                <a:ext uri="{FF2B5EF4-FFF2-40B4-BE49-F238E27FC236}">
                  <a16:creationId xmlns:a16="http://schemas.microsoft.com/office/drawing/2014/main" id="{51FB21DA-FA05-6E18-1699-CDF61C11DC2F}"/>
                </a:ext>
              </a:extLst>
            </p:cNvPr>
            <p:cNvPicPr>
              <a:picLocks noChangeAspect="1"/>
            </p:cNvPicPr>
            <p:nvPr/>
          </p:nvPicPr>
          <p:blipFill>
            <a:blip r:embed="rId29"/>
            <a:stretch>
              <a:fillRect/>
            </a:stretch>
          </p:blipFill>
          <p:spPr>
            <a:xfrm>
              <a:off x="8040954" y="2770027"/>
              <a:ext cx="704000" cy="396000"/>
            </a:xfrm>
            <a:prstGeom prst="rect">
              <a:avLst/>
            </a:prstGeom>
          </p:spPr>
        </p:pic>
        <p:sp>
          <p:nvSpPr>
            <p:cNvPr id="56" name="TextBox 113">
              <a:extLst>
                <a:ext uri="{FF2B5EF4-FFF2-40B4-BE49-F238E27FC236}">
                  <a16:creationId xmlns:a16="http://schemas.microsoft.com/office/drawing/2014/main" id="{E2DA3817-ABB6-682A-A71A-786F8F52A084}"/>
                </a:ext>
              </a:extLst>
            </p:cNvPr>
            <p:cNvSpPr txBox="1"/>
            <p:nvPr/>
          </p:nvSpPr>
          <p:spPr>
            <a:xfrm>
              <a:off x="8646718" y="2818775"/>
              <a:ext cx="1510010" cy="3027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413385" hangingPunct="0">
                <a:defRPr/>
              </a:pPr>
              <a:r>
                <a:rPr lang="en-US" sz="1000" kern="0" dirty="0">
                  <a:solidFill>
                    <a:srgbClr val="000000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  <a:sym typeface="Helvetica Light"/>
                </a:rPr>
                <a:t>Kusion Runtimes</a:t>
              </a:r>
            </a:p>
          </p:txBody>
        </p:sp>
        <p:pic>
          <p:nvPicPr>
            <p:cNvPr id="57" name="Picture 114">
              <a:extLst>
                <a:ext uri="{FF2B5EF4-FFF2-40B4-BE49-F238E27FC236}">
                  <a16:creationId xmlns:a16="http://schemas.microsoft.com/office/drawing/2014/main" id="{4350B8C6-26D4-658E-C204-A5FB809D03FE}"/>
                </a:ext>
              </a:extLst>
            </p:cNvPr>
            <p:cNvPicPr>
              <a:picLocks noChangeAspect="1"/>
            </p:cNvPicPr>
            <p:nvPr/>
          </p:nvPicPr>
          <p:blipFill>
            <a:blip r:embed="rId29"/>
            <a:stretch>
              <a:fillRect/>
            </a:stretch>
          </p:blipFill>
          <p:spPr>
            <a:xfrm>
              <a:off x="5130149" y="4264866"/>
              <a:ext cx="640000" cy="360000"/>
            </a:xfrm>
            <a:prstGeom prst="rect">
              <a:avLst/>
            </a:prstGeom>
          </p:spPr>
        </p:pic>
        <p:sp>
          <p:nvSpPr>
            <p:cNvPr id="58" name="TextBox 116">
              <a:extLst>
                <a:ext uri="{FF2B5EF4-FFF2-40B4-BE49-F238E27FC236}">
                  <a16:creationId xmlns:a16="http://schemas.microsoft.com/office/drawing/2014/main" id="{F5A28821-D19D-226E-B029-2AC12F275B25}"/>
                </a:ext>
              </a:extLst>
            </p:cNvPr>
            <p:cNvSpPr txBox="1"/>
            <p:nvPr/>
          </p:nvSpPr>
          <p:spPr>
            <a:xfrm>
              <a:off x="5091261" y="4560362"/>
              <a:ext cx="2208777" cy="2534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413385" hangingPunct="0">
                <a:defRPr/>
              </a:pPr>
              <a:r>
                <a:rPr lang="en-US" sz="800" kern="0" dirty="0">
                  <a:solidFill>
                    <a:srgbClr val="000000"/>
                  </a:solidFill>
                  <a:latin typeface="Alibaba PuHuiTi R" pitchFamily="18" charset="-122"/>
                  <a:ea typeface="Alibaba PuHuiTi R" pitchFamily="18" charset="-122"/>
                  <a:cs typeface="Alibaba PuHuiTi R" pitchFamily="18" charset="-122"/>
                  <a:sym typeface="Helvetica Light"/>
                </a:rPr>
                <a:t>Search, Insight, Intelligence</a:t>
              </a:r>
            </a:p>
          </p:txBody>
        </p:sp>
        <p:pic>
          <p:nvPicPr>
            <p:cNvPr id="59" name="Picture 117">
              <a:extLst>
                <a:ext uri="{FF2B5EF4-FFF2-40B4-BE49-F238E27FC236}">
                  <a16:creationId xmlns:a16="http://schemas.microsoft.com/office/drawing/2014/main" id="{C6B6956B-20C5-FF17-B2A4-D66C5B171E26}"/>
                </a:ext>
              </a:extLst>
            </p:cNvPr>
            <p:cNvPicPr>
              <a:picLocks noChangeAspect="1"/>
            </p:cNvPicPr>
            <p:nvPr/>
          </p:nvPicPr>
          <p:blipFill>
            <a:blip r:embed="rId29"/>
            <a:stretch>
              <a:fillRect/>
            </a:stretch>
          </p:blipFill>
          <p:spPr>
            <a:xfrm>
              <a:off x="3230972" y="1044347"/>
              <a:ext cx="640000" cy="360000"/>
            </a:xfrm>
            <a:prstGeom prst="rect">
              <a:avLst/>
            </a:prstGeom>
          </p:spPr>
        </p:pic>
        <p:sp>
          <p:nvSpPr>
            <p:cNvPr id="60" name="TextBox 120">
              <a:extLst>
                <a:ext uri="{FF2B5EF4-FFF2-40B4-BE49-F238E27FC236}">
                  <a16:creationId xmlns:a16="http://schemas.microsoft.com/office/drawing/2014/main" id="{D698B6F5-AE90-ADA1-9BE1-E48B942904C6}"/>
                </a:ext>
              </a:extLst>
            </p:cNvPr>
            <p:cNvSpPr txBox="1"/>
            <p:nvPr/>
          </p:nvSpPr>
          <p:spPr>
            <a:xfrm>
              <a:off x="3811237" y="1085847"/>
              <a:ext cx="2124195" cy="29426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413385" hangingPunct="0">
                <a:defRPr/>
              </a:pPr>
              <a:r>
                <a:rPr lang="en-US" sz="1000" kern="0" dirty="0">
                  <a:solidFill>
                    <a:srgbClr val="000000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  <a:sym typeface="Helvetica Light"/>
                </a:rPr>
                <a:t>Kusion Developer Portal</a:t>
              </a:r>
            </a:p>
          </p:txBody>
        </p:sp>
        <p:pic>
          <p:nvPicPr>
            <p:cNvPr id="61" name="Picture 122">
              <a:extLst>
                <a:ext uri="{FF2B5EF4-FFF2-40B4-BE49-F238E27FC236}">
                  <a16:creationId xmlns:a16="http://schemas.microsoft.com/office/drawing/2014/main" id="{F0C966B1-525B-14F0-8B02-C282E32ED041}"/>
                </a:ext>
              </a:extLst>
            </p:cNvPr>
            <p:cNvPicPr>
              <a:picLocks noChangeAspect="1"/>
            </p:cNvPicPr>
            <p:nvPr/>
          </p:nvPicPr>
          <p:blipFill>
            <a:blip r:embed="rId30"/>
            <a:stretch>
              <a:fillRect/>
            </a:stretch>
          </p:blipFill>
          <p:spPr>
            <a:xfrm>
              <a:off x="8860243" y="1052885"/>
              <a:ext cx="360000" cy="360000"/>
            </a:xfrm>
            <a:prstGeom prst="rect">
              <a:avLst/>
            </a:prstGeom>
          </p:spPr>
        </p:pic>
        <p:sp>
          <p:nvSpPr>
            <p:cNvPr id="62" name="TextBox 123">
              <a:extLst>
                <a:ext uri="{FF2B5EF4-FFF2-40B4-BE49-F238E27FC236}">
                  <a16:creationId xmlns:a16="http://schemas.microsoft.com/office/drawing/2014/main" id="{2E975A1A-0868-F46D-29A1-7C49010F9311}"/>
                </a:ext>
              </a:extLst>
            </p:cNvPr>
            <p:cNvSpPr txBox="1"/>
            <p:nvPr/>
          </p:nvSpPr>
          <p:spPr>
            <a:xfrm>
              <a:off x="9070705" y="1109775"/>
              <a:ext cx="1178251" cy="2534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413385" hangingPunct="0">
                <a:defRPr/>
              </a:pPr>
              <a:r>
                <a:rPr lang="en-US" sz="800" kern="0" dirty="0">
                  <a:solidFill>
                    <a:srgbClr val="000000"/>
                  </a:solidFill>
                  <a:latin typeface="Alibaba PuHuiTi R" pitchFamily="18" charset="-122"/>
                  <a:ea typeface="Alibaba PuHuiTi R" pitchFamily="18" charset="-122"/>
                  <a:cs typeface="Alibaba PuHuiTi R" pitchFamily="18" charset="-122"/>
                  <a:sym typeface="Helvetica Light"/>
                </a:rPr>
                <a:t>Bespoke Portal</a:t>
              </a:r>
            </a:p>
          </p:txBody>
        </p:sp>
        <p:pic>
          <p:nvPicPr>
            <p:cNvPr id="63" name="Graphic 125">
              <a:extLst>
                <a:ext uri="{FF2B5EF4-FFF2-40B4-BE49-F238E27FC236}">
                  <a16:creationId xmlns:a16="http://schemas.microsoft.com/office/drawing/2014/main" id="{1D2C4B5E-DD49-F492-204E-A43700F6C3A9}"/>
                </a:ext>
              </a:extLst>
            </p:cNvPr>
            <p:cNvPicPr>
              <a:picLocks noChangeAspect="1"/>
            </p:cNvPicPr>
            <p:nvPr/>
          </p:nvPicPr>
          <p:blipFill>
            <a:blip r:embed="rId31">
              <a:extLst>
                <a:ext uri="{96DAC541-7B7A-43D3-8B79-37D633B846F1}">
                  <asvg:svgBlip xmlns:asvg="http://schemas.microsoft.com/office/drawing/2016/SVG/main" r:embed="rId32"/>
                </a:ext>
              </a:extLst>
            </a:blip>
            <a:stretch>
              <a:fillRect/>
            </a:stretch>
          </p:blipFill>
          <p:spPr>
            <a:xfrm>
              <a:off x="7386960" y="1096736"/>
              <a:ext cx="226092" cy="288000"/>
            </a:xfrm>
            <a:prstGeom prst="rect">
              <a:avLst/>
            </a:prstGeom>
          </p:spPr>
        </p:pic>
        <p:sp>
          <p:nvSpPr>
            <p:cNvPr id="1048576" name="TextBox 126">
              <a:extLst>
                <a:ext uri="{FF2B5EF4-FFF2-40B4-BE49-F238E27FC236}">
                  <a16:creationId xmlns:a16="http://schemas.microsoft.com/office/drawing/2014/main" id="{F9A32434-98C0-3125-C805-E9D3B4795BDF}"/>
                </a:ext>
              </a:extLst>
            </p:cNvPr>
            <p:cNvSpPr txBox="1"/>
            <p:nvPr/>
          </p:nvSpPr>
          <p:spPr>
            <a:xfrm>
              <a:off x="7542713" y="1117626"/>
              <a:ext cx="1302675" cy="2534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413385" hangingPunct="0">
                <a:defRPr/>
              </a:pPr>
              <a:r>
                <a:rPr lang="en-US" sz="800" kern="0" dirty="0">
                  <a:solidFill>
                    <a:srgbClr val="000000"/>
                  </a:solidFill>
                  <a:latin typeface="Alibaba PuHuiTi R" pitchFamily="18" charset="-122"/>
                  <a:ea typeface="Alibaba PuHuiTi R" pitchFamily="18" charset="-122"/>
                  <a:cs typeface="Alibaba PuHuiTi R" pitchFamily="18" charset="-122"/>
                  <a:sym typeface="Helvetica Light"/>
                </a:rPr>
                <a:t>Backstage Plugin</a:t>
              </a:r>
            </a:p>
          </p:txBody>
        </p:sp>
        <p:pic>
          <p:nvPicPr>
            <p:cNvPr id="1048577" name="Picture 128">
              <a:extLst>
                <a:ext uri="{FF2B5EF4-FFF2-40B4-BE49-F238E27FC236}">
                  <a16:creationId xmlns:a16="http://schemas.microsoft.com/office/drawing/2014/main" id="{0D871CFA-0558-DF82-2329-BC9E0F696D98}"/>
                </a:ext>
              </a:extLst>
            </p:cNvPr>
            <p:cNvPicPr>
              <a:picLocks noChangeAspect="1"/>
            </p:cNvPicPr>
            <p:nvPr/>
          </p:nvPicPr>
          <p:blipFill>
            <a:blip r:embed="rId33"/>
            <a:stretch>
              <a:fillRect/>
            </a:stretch>
          </p:blipFill>
          <p:spPr>
            <a:xfrm>
              <a:off x="6299659" y="1106298"/>
              <a:ext cx="267750" cy="252000"/>
            </a:xfrm>
            <a:prstGeom prst="rect">
              <a:avLst/>
            </a:prstGeom>
          </p:spPr>
        </p:pic>
        <p:sp>
          <p:nvSpPr>
            <p:cNvPr id="1048578" name="TextBox 129">
              <a:extLst>
                <a:ext uri="{FF2B5EF4-FFF2-40B4-BE49-F238E27FC236}">
                  <a16:creationId xmlns:a16="http://schemas.microsoft.com/office/drawing/2014/main" id="{249FED29-64B3-D245-B5F2-E18057301F05}"/>
                </a:ext>
              </a:extLst>
            </p:cNvPr>
            <p:cNvSpPr txBox="1"/>
            <p:nvPr/>
          </p:nvSpPr>
          <p:spPr>
            <a:xfrm>
              <a:off x="6524856" y="1109188"/>
              <a:ext cx="667028" cy="2649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413385" hangingPunct="0">
                <a:defRPr/>
              </a:pPr>
              <a:r>
                <a:rPr lang="en-US" sz="800" kern="0" dirty="0">
                  <a:solidFill>
                    <a:srgbClr val="000000"/>
                  </a:solidFill>
                  <a:latin typeface="Alibaba PuHuiTi R" pitchFamily="18" charset="-122"/>
                  <a:ea typeface="Alibaba PuHuiTi R" pitchFamily="18" charset="-122"/>
                  <a:cs typeface="Alibaba PuHuiTi R" pitchFamily="18" charset="-122"/>
                  <a:sym typeface="Helvetica Light"/>
                </a:rPr>
                <a:t>Copilot</a:t>
              </a:r>
            </a:p>
          </p:txBody>
        </p:sp>
        <p:sp>
          <p:nvSpPr>
            <p:cNvPr id="1048579" name="TextBox 131">
              <a:extLst>
                <a:ext uri="{FF2B5EF4-FFF2-40B4-BE49-F238E27FC236}">
                  <a16:creationId xmlns:a16="http://schemas.microsoft.com/office/drawing/2014/main" id="{E369D91F-6DDC-170D-3A3B-053D2563A094}"/>
                </a:ext>
              </a:extLst>
            </p:cNvPr>
            <p:cNvSpPr txBox="1"/>
            <p:nvPr/>
          </p:nvSpPr>
          <p:spPr>
            <a:xfrm>
              <a:off x="7716297" y="1575313"/>
              <a:ext cx="857977" cy="48884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413385" hangingPunct="0">
                <a:defRPr/>
              </a:pPr>
              <a:r>
                <a:rPr lang="en-US" sz="700" kern="0" dirty="0">
                  <a:solidFill>
                    <a:srgbClr val="000000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  <a:sym typeface="Helvetica Light"/>
                </a:rPr>
                <a:t>Kusion Application Model</a:t>
              </a:r>
            </a:p>
          </p:txBody>
        </p:sp>
        <p:pic>
          <p:nvPicPr>
            <p:cNvPr id="1048580" name="Picture 136">
              <a:extLst>
                <a:ext uri="{FF2B5EF4-FFF2-40B4-BE49-F238E27FC236}">
                  <a16:creationId xmlns:a16="http://schemas.microsoft.com/office/drawing/2014/main" id="{EECBD59F-FCF7-35D5-E6A4-8436AFB700BD}"/>
                </a:ext>
              </a:extLst>
            </p:cNvPr>
            <p:cNvPicPr>
              <a:picLocks noChangeAspect="1"/>
            </p:cNvPicPr>
            <p:nvPr/>
          </p:nvPicPr>
          <p:blipFill>
            <a:blip r:embed="rId29"/>
            <a:stretch>
              <a:fillRect/>
            </a:stretch>
          </p:blipFill>
          <p:spPr>
            <a:xfrm>
              <a:off x="6314602" y="2562106"/>
              <a:ext cx="640000" cy="360000"/>
            </a:xfrm>
            <a:prstGeom prst="rect">
              <a:avLst/>
            </a:prstGeom>
          </p:spPr>
        </p:pic>
        <p:sp>
          <p:nvSpPr>
            <p:cNvPr id="1048581" name="TextBox 138">
              <a:extLst>
                <a:ext uri="{FF2B5EF4-FFF2-40B4-BE49-F238E27FC236}">
                  <a16:creationId xmlns:a16="http://schemas.microsoft.com/office/drawing/2014/main" id="{A5306B55-9F98-F50D-A8FE-36130285D7FA}"/>
                </a:ext>
              </a:extLst>
            </p:cNvPr>
            <p:cNvSpPr txBox="1"/>
            <p:nvPr/>
          </p:nvSpPr>
          <p:spPr>
            <a:xfrm>
              <a:off x="5945749" y="2854140"/>
              <a:ext cx="1377706" cy="4707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413385" hangingPunct="0">
                <a:defRPr/>
              </a:pPr>
              <a:r>
                <a:rPr lang="en-US" sz="900" kern="0" dirty="0">
                  <a:solidFill>
                    <a:srgbClr val="000000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  <a:sym typeface="Helvetica Light"/>
                </a:rPr>
                <a:t>Platform</a:t>
              </a:r>
            </a:p>
            <a:p>
              <a:pPr algn="ctr" defTabSz="413385" hangingPunct="0">
                <a:defRPr/>
              </a:pPr>
              <a:r>
                <a:rPr lang="en-US" sz="900" kern="0" dirty="0">
                  <a:solidFill>
                    <a:srgbClr val="000000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  <a:sym typeface="Helvetica Light"/>
                </a:rPr>
                <a:t>Orchestrator</a:t>
              </a:r>
            </a:p>
          </p:txBody>
        </p:sp>
        <p:pic>
          <p:nvPicPr>
            <p:cNvPr id="1048582" name="Picture 139">
              <a:extLst>
                <a:ext uri="{FF2B5EF4-FFF2-40B4-BE49-F238E27FC236}">
                  <a16:creationId xmlns:a16="http://schemas.microsoft.com/office/drawing/2014/main" id="{055F63BB-CC0D-69BB-0ED3-9F28A14A2E1C}"/>
                </a:ext>
              </a:extLst>
            </p:cNvPr>
            <p:cNvPicPr>
              <a:picLocks noChangeAspect="1"/>
            </p:cNvPicPr>
            <p:nvPr/>
          </p:nvPicPr>
          <p:blipFill>
            <a:blip r:embed="rId29"/>
            <a:stretch>
              <a:fillRect/>
            </a:stretch>
          </p:blipFill>
          <p:spPr>
            <a:xfrm>
              <a:off x="4763861" y="2565812"/>
              <a:ext cx="640000" cy="360000"/>
            </a:xfrm>
            <a:prstGeom prst="rect">
              <a:avLst/>
            </a:prstGeom>
          </p:spPr>
        </p:pic>
        <p:sp>
          <p:nvSpPr>
            <p:cNvPr id="1048583" name="TextBox 140">
              <a:extLst>
                <a:ext uri="{FF2B5EF4-FFF2-40B4-BE49-F238E27FC236}">
                  <a16:creationId xmlns:a16="http://schemas.microsoft.com/office/drawing/2014/main" id="{4286C787-A546-954C-AC3C-21E4629C368E}"/>
                </a:ext>
              </a:extLst>
            </p:cNvPr>
            <p:cNvSpPr txBox="1"/>
            <p:nvPr/>
          </p:nvSpPr>
          <p:spPr>
            <a:xfrm>
              <a:off x="4496416" y="2838632"/>
              <a:ext cx="1189263" cy="4707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413385" hangingPunct="0">
                <a:defRPr/>
              </a:pPr>
              <a:r>
                <a:rPr lang="en-US" sz="900" kern="0" dirty="0">
                  <a:solidFill>
                    <a:srgbClr val="000000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  <a:sym typeface="Helvetica Light"/>
                </a:rPr>
                <a:t>Kusion </a:t>
              </a:r>
            </a:p>
            <a:p>
              <a:pPr algn="ctr" defTabSz="413385" hangingPunct="0">
                <a:defRPr/>
              </a:pPr>
              <a:r>
                <a:rPr lang="en-US" sz="900" kern="0" dirty="0">
                  <a:solidFill>
                    <a:srgbClr val="000000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  <a:sym typeface="Helvetica Light"/>
                </a:rPr>
                <a:t>K8s Operator</a:t>
              </a:r>
            </a:p>
          </p:txBody>
        </p:sp>
        <p:sp>
          <p:nvSpPr>
            <p:cNvPr id="1048584" name="Rounded Rectangle 141">
              <a:extLst>
                <a:ext uri="{FF2B5EF4-FFF2-40B4-BE49-F238E27FC236}">
                  <a16:creationId xmlns:a16="http://schemas.microsoft.com/office/drawing/2014/main" id="{86CFC0BD-5E51-9AC9-71DC-2BAFB5F1F15A}"/>
                </a:ext>
              </a:extLst>
            </p:cNvPr>
            <p:cNvSpPr/>
            <p:nvPr/>
          </p:nvSpPr>
          <p:spPr>
            <a:xfrm>
              <a:off x="5488283" y="5400488"/>
              <a:ext cx="828000" cy="648000"/>
            </a:xfrm>
            <a:prstGeom prst="roundRect">
              <a:avLst>
                <a:gd name="adj" fmla="val 4009"/>
              </a:avLst>
            </a:prstGeom>
            <a:solidFill>
              <a:srgbClr val="D1D1D8"/>
            </a:solidFill>
            <a:ln w="6350">
              <a:noFill/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8585" name="TextBox 142">
              <a:extLst>
                <a:ext uri="{FF2B5EF4-FFF2-40B4-BE49-F238E27FC236}">
                  <a16:creationId xmlns:a16="http://schemas.microsoft.com/office/drawing/2014/main" id="{C23BC440-B372-2BA6-1611-A817D4B94EE1}"/>
                </a:ext>
              </a:extLst>
            </p:cNvPr>
            <p:cNvSpPr txBox="1"/>
            <p:nvPr/>
          </p:nvSpPr>
          <p:spPr>
            <a:xfrm>
              <a:off x="5569951" y="5428080"/>
              <a:ext cx="685463" cy="2649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413385" hangingPunct="0">
                <a:defRPr/>
              </a:pPr>
              <a:r>
                <a:rPr lang="en-US" sz="800" kern="0" dirty="0">
                  <a:solidFill>
                    <a:srgbClr val="000000"/>
                  </a:solidFill>
                  <a:latin typeface="Alibaba PuHuiTi R" pitchFamily="18" charset="-122"/>
                  <a:ea typeface="Alibaba PuHuiTi R" pitchFamily="18" charset="-122"/>
                  <a:cs typeface="Alibaba PuHuiTi R" pitchFamily="18" charset="-122"/>
                  <a:sym typeface="Helvetica Light"/>
                </a:rPr>
                <a:t>Secrets</a:t>
              </a:r>
            </a:p>
          </p:txBody>
        </p:sp>
        <p:pic>
          <p:nvPicPr>
            <p:cNvPr id="1048586" name="Graphic 148">
              <a:extLst>
                <a:ext uri="{FF2B5EF4-FFF2-40B4-BE49-F238E27FC236}">
                  <a16:creationId xmlns:a16="http://schemas.microsoft.com/office/drawing/2014/main" id="{ACBDC248-CE92-3256-8E84-B413B1E53373}"/>
                </a:ext>
              </a:extLst>
            </p:cNvPr>
            <p:cNvPicPr>
              <a:picLocks noChangeAspect="1"/>
            </p:cNvPicPr>
            <p:nvPr/>
          </p:nvPicPr>
          <p:blipFill>
            <a:blip r:embed="rId34">
              <a:extLst>
                <a:ext uri="{96DAC541-7B7A-43D3-8B79-37D633B846F1}">
                  <asvg:svgBlip xmlns:asvg="http://schemas.microsoft.com/office/drawing/2016/SVG/main" r:embed="rId35"/>
                </a:ext>
              </a:extLst>
            </a:blip>
            <a:stretch>
              <a:fillRect/>
            </a:stretch>
          </p:blipFill>
          <p:spPr>
            <a:xfrm>
              <a:off x="5585785" y="5729379"/>
              <a:ext cx="252000" cy="252000"/>
            </a:xfrm>
            <a:prstGeom prst="rect">
              <a:avLst/>
            </a:prstGeom>
          </p:spPr>
        </p:pic>
        <p:pic>
          <p:nvPicPr>
            <p:cNvPr id="1048587" name="Graphic 150">
              <a:extLst>
                <a:ext uri="{FF2B5EF4-FFF2-40B4-BE49-F238E27FC236}">
                  <a16:creationId xmlns:a16="http://schemas.microsoft.com/office/drawing/2014/main" id="{C078F61A-4031-A691-EC94-3436AEA82099}"/>
                </a:ext>
              </a:extLst>
            </p:cNvPr>
            <p:cNvPicPr>
              <a:picLocks noChangeAspect="1"/>
            </p:cNvPicPr>
            <p:nvPr/>
          </p:nvPicPr>
          <p:blipFill>
            <a:blip r:embed="rId36">
              <a:extLst>
                <a:ext uri="{96DAC541-7B7A-43D3-8B79-37D633B846F1}">
                  <asvg:svgBlip xmlns:asvg="http://schemas.microsoft.com/office/drawing/2016/SVG/main" r:embed="rId37"/>
                </a:ext>
              </a:extLst>
            </a:blip>
            <a:stretch>
              <a:fillRect/>
            </a:stretch>
          </p:blipFill>
          <p:spPr>
            <a:xfrm>
              <a:off x="5969970" y="5716464"/>
              <a:ext cx="252000" cy="252000"/>
            </a:xfrm>
            <a:prstGeom prst="rect">
              <a:avLst/>
            </a:prstGeom>
          </p:spPr>
        </p:pic>
        <p:pic>
          <p:nvPicPr>
            <p:cNvPr id="1048588" name="Picture 151">
              <a:extLst>
                <a:ext uri="{FF2B5EF4-FFF2-40B4-BE49-F238E27FC236}">
                  <a16:creationId xmlns:a16="http://schemas.microsoft.com/office/drawing/2014/main" id="{24AA2890-FCFA-8CE2-8DBD-87E0BD00AF11}"/>
                </a:ext>
              </a:extLst>
            </p:cNvPr>
            <p:cNvPicPr>
              <a:picLocks noChangeAspect="1"/>
            </p:cNvPicPr>
            <p:nvPr/>
          </p:nvPicPr>
          <p:blipFill>
            <a:blip r:embed="rId29"/>
            <a:stretch>
              <a:fillRect/>
            </a:stretch>
          </p:blipFill>
          <p:spPr>
            <a:xfrm>
              <a:off x="4532946" y="5396876"/>
              <a:ext cx="640000" cy="360000"/>
            </a:xfrm>
            <a:prstGeom prst="rect">
              <a:avLst/>
            </a:prstGeom>
          </p:spPr>
        </p:pic>
        <p:pic>
          <p:nvPicPr>
            <p:cNvPr id="1048589" name="Picture 152">
              <a:extLst>
                <a:ext uri="{FF2B5EF4-FFF2-40B4-BE49-F238E27FC236}">
                  <a16:creationId xmlns:a16="http://schemas.microsoft.com/office/drawing/2014/main" id="{0395E9B1-E28D-A822-6D56-ADE9C0C5E094}"/>
                </a:ext>
              </a:extLst>
            </p:cNvPr>
            <p:cNvPicPr>
              <a:picLocks noChangeAspect="1"/>
            </p:cNvPicPr>
            <p:nvPr/>
          </p:nvPicPr>
          <p:blipFill>
            <a:blip r:embed="rId29"/>
            <a:stretch>
              <a:fillRect/>
            </a:stretch>
          </p:blipFill>
          <p:spPr>
            <a:xfrm>
              <a:off x="3414980" y="5400582"/>
              <a:ext cx="640000" cy="360000"/>
            </a:xfrm>
            <a:prstGeom prst="rect">
              <a:avLst/>
            </a:prstGeom>
          </p:spPr>
        </p:pic>
        <p:pic>
          <p:nvPicPr>
            <p:cNvPr id="1048590" name="Picture 154">
              <a:extLst>
                <a:ext uri="{FF2B5EF4-FFF2-40B4-BE49-F238E27FC236}">
                  <a16:creationId xmlns:a16="http://schemas.microsoft.com/office/drawing/2014/main" id="{5E8CF75D-E97C-5513-8191-A31A71E461D3}"/>
                </a:ext>
              </a:extLst>
            </p:cNvPr>
            <p:cNvPicPr>
              <a:picLocks noChangeAspect="1"/>
            </p:cNvPicPr>
            <p:nvPr/>
          </p:nvPicPr>
          <p:blipFill>
            <a:blip r:embed="rId38"/>
            <a:stretch>
              <a:fillRect/>
            </a:stretch>
          </p:blipFill>
          <p:spPr>
            <a:xfrm>
              <a:off x="4609495" y="3250922"/>
              <a:ext cx="432000" cy="432000"/>
            </a:xfrm>
            <a:prstGeom prst="rect">
              <a:avLst/>
            </a:prstGeom>
          </p:spPr>
        </p:pic>
        <p:pic>
          <p:nvPicPr>
            <p:cNvPr id="1048591" name="Picture 160">
              <a:extLst>
                <a:ext uri="{FF2B5EF4-FFF2-40B4-BE49-F238E27FC236}">
                  <a16:creationId xmlns:a16="http://schemas.microsoft.com/office/drawing/2014/main" id="{C6070142-547C-98B9-52A2-E8B0E7158470}"/>
                </a:ext>
              </a:extLst>
            </p:cNvPr>
            <p:cNvPicPr>
              <a:picLocks noChangeAspect="1"/>
            </p:cNvPicPr>
            <p:nvPr/>
          </p:nvPicPr>
          <p:blipFill>
            <a:blip r:embed="rId39"/>
            <a:stretch>
              <a:fillRect/>
            </a:stretch>
          </p:blipFill>
          <p:spPr>
            <a:xfrm>
              <a:off x="5223718" y="3329956"/>
              <a:ext cx="284000" cy="288000"/>
            </a:xfrm>
            <a:prstGeom prst="rect">
              <a:avLst/>
            </a:prstGeom>
          </p:spPr>
        </p:pic>
        <p:pic>
          <p:nvPicPr>
            <p:cNvPr id="1048592" name="Picture 164">
              <a:extLst>
                <a:ext uri="{FF2B5EF4-FFF2-40B4-BE49-F238E27FC236}">
                  <a16:creationId xmlns:a16="http://schemas.microsoft.com/office/drawing/2014/main" id="{773F4ED8-A2D6-BE79-1F29-94AD431D843F}"/>
                </a:ext>
              </a:extLst>
            </p:cNvPr>
            <p:cNvPicPr>
              <a:picLocks noChangeAspect="1"/>
            </p:cNvPicPr>
            <p:nvPr/>
          </p:nvPicPr>
          <p:blipFill>
            <a:blip r:embed="rId40"/>
            <a:stretch>
              <a:fillRect/>
            </a:stretch>
          </p:blipFill>
          <p:spPr>
            <a:xfrm>
              <a:off x="4346394" y="5676667"/>
              <a:ext cx="360000" cy="360000"/>
            </a:xfrm>
            <a:prstGeom prst="rect">
              <a:avLst/>
            </a:prstGeom>
          </p:spPr>
        </p:pic>
        <p:sp>
          <p:nvSpPr>
            <p:cNvPr id="1048593" name="TextBox 165">
              <a:extLst>
                <a:ext uri="{FF2B5EF4-FFF2-40B4-BE49-F238E27FC236}">
                  <a16:creationId xmlns:a16="http://schemas.microsoft.com/office/drawing/2014/main" id="{1198C552-33F3-6CA3-5E43-AAB32B800792}"/>
                </a:ext>
              </a:extLst>
            </p:cNvPr>
            <p:cNvSpPr txBox="1"/>
            <p:nvPr/>
          </p:nvSpPr>
          <p:spPr>
            <a:xfrm>
              <a:off x="4578257" y="5731107"/>
              <a:ext cx="793148" cy="2172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413385" hangingPunct="0">
                <a:defRPr/>
              </a:pPr>
              <a:r>
                <a:rPr lang="en-US" sz="600" kern="0" dirty="0">
                  <a:solidFill>
                    <a:srgbClr val="000000"/>
                  </a:solidFill>
                  <a:latin typeface="Alibaba PuHuiTi R" pitchFamily="18" charset="-122"/>
                  <a:ea typeface="Alibaba PuHuiTi R" pitchFamily="18" charset="-122"/>
                  <a:cs typeface="Alibaba PuHuiTi R" pitchFamily="18" charset="-122"/>
                  <a:sym typeface="Helvetica Light"/>
                </a:rPr>
                <a:t>(Upcoming)</a:t>
              </a:r>
            </a:p>
          </p:txBody>
        </p:sp>
        <p:pic>
          <p:nvPicPr>
            <p:cNvPr id="1048594" name="Picture 167">
              <a:extLst>
                <a:ext uri="{FF2B5EF4-FFF2-40B4-BE49-F238E27FC236}">
                  <a16:creationId xmlns:a16="http://schemas.microsoft.com/office/drawing/2014/main" id="{56D49689-DBB8-BA68-E413-4DA4E5341488}"/>
                </a:ext>
              </a:extLst>
            </p:cNvPr>
            <p:cNvPicPr>
              <a:picLocks noChangeAspect="1"/>
            </p:cNvPicPr>
            <p:nvPr/>
          </p:nvPicPr>
          <p:blipFill>
            <a:blip r:embed="rId41"/>
            <a:stretch>
              <a:fillRect/>
            </a:stretch>
          </p:blipFill>
          <p:spPr>
            <a:xfrm>
              <a:off x="3305524" y="5695551"/>
              <a:ext cx="249360" cy="251999"/>
            </a:xfrm>
            <a:prstGeom prst="rect">
              <a:avLst/>
            </a:prstGeom>
          </p:spPr>
        </p:pic>
        <p:cxnSp>
          <p:nvCxnSpPr>
            <p:cNvPr id="1048595" name="Straight Connector 22">
              <a:extLst>
                <a:ext uri="{FF2B5EF4-FFF2-40B4-BE49-F238E27FC236}">
                  <a16:creationId xmlns:a16="http://schemas.microsoft.com/office/drawing/2014/main" id="{0C8A10B6-8652-1264-FD3D-4DC04CE3CA64}"/>
                </a:ext>
              </a:extLst>
            </p:cNvPr>
            <p:cNvCxnSpPr>
              <a:cxnSpLocks/>
            </p:cNvCxnSpPr>
            <p:nvPr/>
          </p:nvCxnSpPr>
          <p:spPr>
            <a:xfrm>
              <a:off x="4266337" y="1440347"/>
              <a:ext cx="0" cy="913639"/>
            </a:xfrm>
            <a:prstGeom prst="line">
              <a:avLst/>
            </a:prstGeom>
            <a:ln w="12700">
              <a:solidFill>
                <a:srgbClr val="73757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8596" name="Straight Connector 23">
              <a:extLst>
                <a:ext uri="{FF2B5EF4-FFF2-40B4-BE49-F238E27FC236}">
                  <a16:creationId xmlns:a16="http://schemas.microsoft.com/office/drawing/2014/main" id="{63AB681B-10A2-F428-40FA-7884DB141069}"/>
                </a:ext>
              </a:extLst>
            </p:cNvPr>
            <p:cNvCxnSpPr>
              <a:cxnSpLocks/>
            </p:cNvCxnSpPr>
            <p:nvPr/>
          </p:nvCxnSpPr>
          <p:spPr>
            <a:xfrm>
              <a:off x="3691957" y="2096663"/>
              <a:ext cx="0" cy="467517"/>
            </a:xfrm>
            <a:prstGeom prst="line">
              <a:avLst/>
            </a:prstGeom>
            <a:ln w="12700">
              <a:solidFill>
                <a:srgbClr val="73757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8597" name="Straight Connector 24">
              <a:extLst>
                <a:ext uri="{FF2B5EF4-FFF2-40B4-BE49-F238E27FC236}">
                  <a16:creationId xmlns:a16="http://schemas.microsoft.com/office/drawing/2014/main" id="{7CAA1CE3-9977-2741-E665-1A9D46175CCF}"/>
                </a:ext>
              </a:extLst>
            </p:cNvPr>
            <p:cNvCxnSpPr>
              <a:cxnSpLocks/>
              <a:stCxn id="20" idx="3"/>
            </p:cNvCxnSpPr>
            <p:nvPr/>
          </p:nvCxnSpPr>
          <p:spPr>
            <a:xfrm>
              <a:off x="4204550" y="3139754"/>
              <a:ext cx="207940" cy="1"/>
            </a:xfrm>
            <a:prstGeom prst="line">
              <a:avLst/>
            </a:prstGeom>
            <a:ln w="12700">
              <a:solidFill>
                <a:srgbClr val="73757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8598" name="Straight Connector 39">
              <a:extLst>
                <a:ext uri="{FF2B5EF4-FFF2-40B4-BE49-F238E27FC236}">
                  <a16:creationId xmlns:a16="http://schemas.microsoft.com/office/drawing/2014/main" id="{F661C9BE-CC9C-93FE-7BA7-D51C7FBEFCDD}"/>
                </a:ext>
              </a:extLst>
            </p:cNvPr>
            <p:cNvCxnSpPr>
              <a:cxnSpLocks/>
            </p:cNvCxnSpPr>
            <p:nvPr/>
          </p:nvCxnSpPr>
          <p:spPr>
            <a:xfrm>
              <a:off x="5765146" y="3144440"/>
              <a:ext cx="180000" cy="1"/>
            </a:xfrm>
            <a:prstGeom prst="line">
              <a:avLst/>
            </a:prstGeom>
            <a:ln w="12700">
              <a:solidFill>
                <a:srgbClr val="73757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8599" name="Elbow Connector 44">
              <a:extLst>
                <a:ext uri="{FF2B5EF4-FFF2-40B4-BE49-F238E27FC236}">
                  <a16:creationId xmlns:a16="http://schemas.microsoft.com/office/drawing/2014/main" id="{51CEB22D-4F16-CEFA-379C-D058B63FA1F5}"/>
                </a:ext>
              </a:extLst>
            </p:cNvPr>
            <p:cNvCxnSpPr>
              <a:cxnSpLocks/>
              <a:stCxn id="17" idx="2"/>
              <a:endCxn id="1048580" idx="0"/>
            </p:cNvCxnSpPr>
            <p:nvPr/>
          </p:nvCxnSpPr>
          <p:spPr>
            <a:xfrm rot="5400000">
              <a:off x="7106422" y="1624843"/>
              <a:ext cx="465443" cy="1409082"/>
            </a:xfrm>
            <a:prstGeom prst="bentConnector3">
              <a:avLst>
                <a:gd name="adj1" fmla="val 39085"/>
              </a:avLst>
            </a:prstGeom>
            <a:ln w="12700">
              <a:solidFill>
                <a:srgbClr val="73757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8600" name="Elbow Connector 51">
              <a:extLst>
                <a:ext uri="{FF2B5EF4-FFF2-40B4-BE49-F238E27FC236}">
                  <a16:creationId xmlns:a16="http://schemas.microsoft.com/office/drawing/2014/main" id="{E296ECE0-7522-E4BA-4155-DD0C8978E9BC}"/>
                </a:ext>
              </a:extLst>
            </p:cNvPr>
            <p:cNvCxnSpPr>
              <a:cxnSpLocks/>
              <a:stCxn id="4" idx="1"/>
              <a:endCxn id="23" idx="3"/>
            </p:cNvCxnSpPr>
            <p:nvPr/>
          </p:nvCxnSpPr>
          <p:spPr>
            <a:xfrm rot="10800000">
              <a:off x="7333773" y="3141938"/>
              <a:ext cx="671481" cy="1281861"/>
            </a:xfrm>
            <a:prstGeom prst="bentConnector3">
              <a:avLst>
                <a:gd name="adj1" fmla="val 58674"/>
              </a:avLst>
            </a:prstGeom>
            <a:ln w="12700">
              <a:solidFill>
                <a:srgbClr val="73757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8604" name="Elbow Connector 59">
              <a:extLst>
                <a:ext uri="{FF2B5EF4-FFF2-40B4-BE49-F238E27FC236}">
                  <a16:creationId xmlns:a16="http://schemas.microsoft.com/office/drawing/2014/main" id="{D083EE52-B85C-3F45-2189-0F9299086E93}"/>
                </a:ext>
              </a:extLst>
            </p:cNvPr>
            <p:cNvCxnSpPr>
              <a:cxnSpLocks/>
              <a:stCxn id="4" idx="1"/>
              <a:endCxn id="26" idx="3"/>
            </p:cNvCxnSpPr>
            <p:nvPr/>
          </p:nvCxnSpPr>
          <p:spPr>
            <a:xfrm rot="10800000" flipV="1">
              <a:off x="7333005" y="4423798"/>
              <a:ext cx="672249" cy="97892"/>
            </a:xfrm>
            <a:prstGeom prst="bentConnector3">
              <a:avLst>
                <a:gd name="adj1" fmla="val 58453"/>
              </a:avLst>
            </a:prstGeom>
            <a:ln w="12700">
              <a:solidFill>
                <a:srgbClr val="73757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48605" name="TextBox 165">
              <a:extLst>
                <a:ext uri="{FF2B5EF4-FFF2-40B4-BE49-F238E27FC236}">
                  <a16:creationId xmlns:a16="http://schemas.microsoft.com/office/drawing/2014/main" id="{C567D60B-AA00-E427-3F88-10692E039313}"/>
                </a:ext>
              </a:extLst>
            </p:cNvPr>
            <p:cNvSpPr txBox="1"/>
            <p:nvPr/>
          </p:nvSpPr>
          <p:spPr>
            <a:xfrm>
              <a:off x="3471789" y="5726787"/>
              <a:ext cx="794548" cy="2172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413385" hangingPunct="0">
                <a:defRPr/>
              </a:pPr>
              <a:r>
                <a:rPr lang="en-US" sz="600" kern="0" dirty="0">
                  <a:solidFill>
                    <a:srgbClr val="000000"/>
                  </a:solidFill>
                  <a:latin typeface="Alibaba PuHuiTi R" pitchFamily="18" charset="-122"/>
                  <a:ea typeface="Alibaba PuHuiTi R" pitchFamily="18" charset="-122"/>
                  <a:cs typeface="Alibaba PuHuiTi R" pitchFamily="18" charset="-122"/>
                  <a:sym typeface="Helvetica Light"/>
                </a:rPr>
                <a:t>(Upcoming)</a:t>
              </a:r>
            </a:p>
          </p:txBody>
        </p:sp>
        <p:sp>
          <p:nvSpPr>
            <p:cNvPr id="1048606" name="Rounded Rectangle 16">
              <a:extLst>
                <a:ext uri="{FF2B5EF4-FFF2-40B4-BE49-F238E27FC236}">
                  <a16:creationId xmlns:a16="http://schemas.microsoft.com/office/drawing/2014/main" id="{FCA0ECAD-EFB4-3F48-E9C8-F67F8A0B766F}"/>
                </a:ext>
              </a:extLst>
            </p:cNvPr>
            <p:cNvSpPr/>
            <p:nvPr/>
          </p:nvSpPr>
          <p:spPr>
            <a:xfrm>
              <a:off x="8847015" y="1558646"/>
              <a:ext cx="1402541" cy="540000"/>
            </a:xfrm>
            <a:prstGeom prst="roundRect">
              <a:avLst>
                <a:gd name="adj" fmla="val 4009"/>
              </a:avLst>
            </a:prstGeom>
            <a:solidFill>
              <a:srgbClr val="F6F6F6"/>
            </a:solidFill>
            <a:ln w="19050">
              <a:solidFill>
                <a:srgbClr val="284EF6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048607" name="Picture 130">
              <a:extLst>
                <a:ext uri="{FF2B5EF4-FFF2-40B4-BE49-F238E27FC236}">
                  <a16:creationId xmlns:a16="http://schemas.microsoft.com/office/drawing/2014/main" id="{689A0D6D-A609-1792-A742-42F5048724E3}"/>
                </a:ext>
              </a:extLst>
            </p:cNvPr>
            <p:cNvPicPr>
              <a:picLocks noChangeAspect="1"/>
            </p:cNvPicPr>
            <p:nvPr/>
          </p:nvPicPr>
          <p:blipFill>
            <a:blip r:embed="rId29"/>
            <a:stretch>
              <a:fillRect/>
            </a:stretch>
          </p:blipFill>
          <p:spPr>
            <a:xfrm>
              <a:off x="8799573" y="1675799"/>
              <a:ext cx="577316" cy="324740"/>
            </a:xfrm>
            <a:prstGeom prst="rect">
              <a:avLst/>
            </a:prstGeom>
          </p:spPr>
        </p:pic>
        <p:sp>
          <p:nvSpPr>
            <p:cNvPr id="1048608" name="TextBox 131">
              <a:extLst>
                <a:ext uri="{FF2B5EF4-FFF2-40B4-BE49-F238E27FC236}">
                  <a16:creationId xmlns:a16="http://schemas.microsoft.com/office/drawing/2014/main" id="{A283FE8C-5CBD-C325-1884-569E872D85FC}"/>
                </a:ext>
              </a:extLst>
            </p:cNvPr>
            <p:cNvSpPr txBox="1"/>
            <p:nvPr/>
          </p:nvSpPr>
          <p:spPr>
            <a:xfrm>
              <a:off x="9267479" y="1646943"/>
              <a:ext cx="731835" cy="362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413385" hangingPunct="0">
                <a:defRPr/>
              </a:pPr>
              <a:r>
                <a:rPr lang="en-US" sz="700" kern="0" dirty="0">
                  <a:solidFill>
                    <a:srgbClr val="000000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  <a:sym typeface="Helvetica Light"/>
                </a:rPr>
                <a:t>Kusion Modules</a:t>
              </a:r>
            </a:p>
          </p:txBody>
        </p:sp>
        <p:pic>
          <p:nvPicPr>
            <p:cNvPr id="1048609" name="Picture 130">
              <a:extLst>
                <a:ext uri="{FF2B5EF4-FFF2-40B4-BE49-F238E27FC236}">
                  <a16:creationId xmlns:a16="http://schemas.microsoft.com/office/drawing/2014/main" id="{03FF59D3-A24A-02AD-DCF8-60CEB400F7E7}"/>
                </a:ext>
              </a:extLst>
            </p:cNvPr>
            <p:cNvPicPr>
              <a:picLocks noChangeAspect="1"/>
            </p:cNvPicPr>
            <p:nvPr/>
          </p:nvPicPr>
          <p:blipFill>
            <a:blip r:embed="rId29"/>
            <a:stretch>
              <a:fillRect/>
            </a:stretch>
          </p:blipFill>
          <p:spPr>
            <a:xfrm>
              <a:off x="7301374" y="1650922"/>
              <a:ext cx="577316" cy="324740"/>
            </a:xfrm>
            <a:prstGeom prst="rect">
              <a:avLst/>
            </a:prstGeom>
          </p:spPr>
        </p:pic>
        <p:cxnSp>
          <p:nvCxnSpPr>
            <p:cNvPr id="1048610" name="肘形连接符 1048609">
              <a:extLst>
                <a:ext uri="{FF2B5EF4-FFF2-40B4-BE49-F238E27FC236}">
                  <a16:creationId xmlns:a16="http://schemas.microsoft.com/office/drawing/2014/main" id="{B62F13BC-E45B-90E2-6DCF-3A136452BF3C}"/>
                </a:ext>
              </a:extLst>
            </p:cNvPr>
            <p:cNvCxnSpPr>
              <a:cxnSpLocks/>
              <a:stCxn id="1048606" idx="2"/>
              <a:endCxn id="23" idx="0"/>
            </p:cNvCxnSpPr>
            <p:nvPr/>
          </p:nvCxnSpPr>
          <p:spPr>
            <a:xfrm rot="5400000">
              <a:off x="7860860" y="872388"/>
              <a:ext cx="461168" cy="2913684"/>
            </a:xfrm>
            <a:prstGeom prst="bentConnector3">
              <a:avLst>
                <a:gd name="adj1" fmla="val 39311"/>
              </a:avLst>
            </a:prstGeom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048611" name="Picture 10">
              <a:extLst>
                <a:ext uri="{FF2B5EF4-FFF2-40B4-BE49-F238E27FC236}">
                  <a16:creationId xmlns:a16="http://schemas.microsoft.com/office/drawing/2014/main" id="{10CB143D-AC56-831A-4D92-90719591098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835439" y="3680814"/>
              <a:ext cx="394257" cy="39425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48612" name="图形 1048611">
              <a:extLst>
                <a:ext uri="{FF2B5EF4-FFF2-40B4-BE49-F238E27FC236}">
                  <a16:creationId xmlns:a16="http://schemas.microsoft.com/office/drawing/2014/main" id="{B69B3E21-C97C-E571-8BC0-FC32CC8E08D5}"/>
                </a:ext>
              </a:extLst>
            </p:cNvPr>
            <p:cNvPicPr>
              <a:picLocks noChangeAspect="1"/>
            </p:cNvPicPr>
            <p:nvPr/>
          </p:nvPicPr>
          <p:blipFill>
            <a:blip r:embed="rId43">
              <a:extLst>
                <a:ext uri="{96DAC541-7B7A-43D3-8B79-37D633B846F1}">
                  <asvg:svgBlip xmlns:asvg="http://schemas.microsoft.com/office/drawing/2016/SVG/main" r:embed="rId44"/>
                </a:ext>
              </a:extLst>
            </a:blip>
            <a:stretch>
              <a:fillRect/>
            </a:stretch>
          </p:blipFill>
          <p:spPr>
            <a:xfrm>
              <a:off x="8309361" y="3696426"/>
              <a:ext cx="419100" cy="419100"/>
            </a:xfrm>
            <a:prstGeom prst="rect">
              <a:avLst/>
            </a:prstGeom>
          </p:spPr>
        </p:pic>
        <p:pic>
          <p:nvPicPr>
            <p:cNvPr id="1048613" name="Picture 13">
              <a:extLst>
                <a:ext uri="{FF2B5EF4-FFF2-40B4-BE49-F238E27FC236}">
                  <a16:creationId xmlns:a16="http://schemas.microsoft.com/office/drawing/2014/main" id="{43367CB0-0952-AC25-E54F-EAEBF0699D81}"/>
                </a:ext>
              </a:extLst>
            </p:cNvPr>
            <p:cNvPicPr>
              <a:picLocks noChangeAspect="1"/>
            </p:cNvPicPr>
            <p:nvPr/>
          </p:nvPicPr>
          <p:blipFill>
            <a:blip r:embed="rId4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411408" y="4142475"/>
              <a:ext cx="419100" cy="419100"/>
            </a:xfrm>
            <a:prstGeom prst="rect">
              <a:avLst/>
            </a:prstGeom>
          </p:spPr>
        </p:pic>
        <p:pic>
          <p:nvPicPr>
            <p:cNvPr id="1048614" name="图形 1048613">
              <a:extLst>
                <a:ext uri="{FF2B5EF4-FFF2-40B4-BE49-F238E27FC236}">
                  <a16:creationId xmlns:a16="http://schemas.microsoft.com/office/drawing/2014/main" id="{266615FB-CC37-5E84-7290-E91E8586152E}"/>
                </a:ext>
              </a:extLst>
            </p:cNvPr>
            <p:cNvPicPr>
              <a:picLocks noChangeAspect="1"/>
            </p:cNvPicPr>
            <p:nvPr/>
          </p:nvPicPr>
          <p:blipFill>
            <a:blip r:embed="rId46">
              <a:extLst>
                <a:ext uri="{96DAC541-7B7A-43D3-8B79-37D633B846F1}">
                  <asvg:svgBlip xmlns:asvg="http://schemas.microsoft.com/office/drawing/2016/SVG/main" r:embed="rId47"/>
                </a:ext>
              </a:extLst>
            </a:blip>
            <a:stretch>
              <a:fillRect/>
            </a:stretch>
          </p:blipFill>
          <p:spPr>
            <a:xfrm>
              <a:off x="9277993" y="3528783"/>
              <a:ext cx="658069" cy="658069"/>
            </a:xfrm>
            <a:prstGeom prst="rect">
              <a:avLst/>
            </a:prstGeom>
          </p:spPr>
        </p:pic>
        <p:pic>
          <p:nvPicPr>
            <p:cNvPr id="1048615" name="Picture 137">
              <a:extLst>
                <a:ext uri="{FF2B5EF4-FFF2-40B4-BE49-F238E27FC236}">
                  <a16:creationId xmlns:a16="http://schemas.microsoft.com/office/drawing/2014/main" id="{6A778377-B595-A5D4-D0AC-5904129CFEF5}"/>
                </a:ext>
              </a:extLst>
            </p:cNvPr>
            <p:cNvPicPr>
              <a:picLocks noChangeAspect="1"/>
            </p:cNvPicPr>
            <p:nvPr/>
          </p:nvPicPr>
          <p:blipFill>
            <a:blip r:embed="rId4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846955" y="4106134"/>
              <a:ext cx="458293" cy="458293"/>
            </a:xfrm>
            <a:prstGeom prst="rect">
              <a:avLst/>
            </a:prstGeom>
          </p:spPr>
        </p:pic>
        <p:sp>
          <p:nvSpPr>
            <p:cNvPr id="1048616" name="Rounded Rectangle 25">
              <a:extLst>
                <a:ext uri="{FF2B5EF4-FFF2-40B4-BE49-F238E27FC236}">
                  <a16:creationId xmlns:a16="http://schemas.microsoft.com/office/drawing/2014/main" id="{D75BD6D7-558A-2FC6-6528-F928C709E325}"/>
                </a:ext>
              </a:extLst>
            </p:cNvPr>
            <p:cNvSpPr/>
            <p:nvPr/>
          </p:nvSpPr>
          <p:spPr>
            <a:xfrm>
              <a:off x="8190867" y="4123333"/>
              <a:ext cx="1810949" cy="841103"/>
            </a:xfrm>
            <a:prstGeom prst="roundRect">
              <a:avLst>
                <a:gd name="adj" fmla="val 4009"/>
              </a:avLst>
            </a:prstGeom>
            <a:noFill/>
            <a:ln w="12700">
              <a:solidFill>
                <a:schemeClr val="accent3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048617" name="Picture 26">
              <a:extLst>
                <a:ext uri="{FF2B5EF4-FFF2-40B4-BE49-F238E27FC236}">
                  <a16:creationId xmlns:a16="http://schemas.microsoft.com/office/drawing/2014/main" id="{4EEC8F13-5258-5633-48A1-AD6B637D98EF}"/>
                </a:ext>
              </a:extLst>
            </p:cNvPr>
            <p:cNvPicPr>
              <a:picLocks noChangeAspect="1"/>
            </p:cNvPicPr>
            <p:nvPr/>
          </p:nvPicPr>
          <p:blipFill>
            <a:blip r:embed="rId4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08313" y="5026562"/>
              <a:ext cx="748800" cy="748800"/>
            </a:xfrm>
            <a:prstGeom prst="rect">
              <a:avLst/>
            </a:prstGeom>
          </p:spPr>
        </p:pic>
        <p:pic>
          <p:nvPicPr>
            <p:cNvPr id="1048618" name="Picture 38">
              <a:extLst>
                <a:ext uri="{FF2B5EF4-FFF2-40B4-BE49-F238E27FC236}">
                  <a16:creationId xmlns:a16="http://schemas.microsoft.com/office/drawing/2014/main" id="{016AFE61-8D50-7C37-9740-9CE3F9C918DF}"/>
                </a:ext>
              </a:extLst>
            </p:cNvPr>
            <p:cNvPicPr>
              <a:picLocks noChangeAspect="1"/>
            </p:cNvPicPr>
            <p:nvPr/>
          </p:nvPicPr>
          <p:blipFill>
            <a:blip r:embed="rId5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445272" y="5596550"/>
              <a:ext cx="324000" cy="324000"/>
            </a:xfrm>
            <a:prstGeom prst="rect">
              <a:avLst/>
            </a:prstGeom>
          </p:spPr>
        </p:pic>
        <p:sp>
          <p:nvSpPr>
            <p:cNvPr id="1048619" name="Rounded Rectangle 25">
              <a:extLst>
                <a:ext uri="{FF2B5EF4-FFF2-40B4-BE49-F238E27FC236}">
                  <a16:creationId xmlns:a16="http://schemas.microsoft.com/office/drawing/2014/main" id="{8FECFB1E-7B51-E9DB-4592-A7DD9A28FF5E}"/>
                </a:ext>
              </a:extLst>
            </p:cNvPr>
            <p:cNvSpPr/>
            <p:nvPr/>
          </p:nvSpPr>
          <p:spPr>
            <a:xfrm>
              <a:off x="8185050" y="5042487"/>
              <a:ext cx="1810949" cy="932178"/>
            </a:xfrm>
            <a:prstGeom prst="roundRect">
              <a:avLst>
                <a:gd name="adj" fmla="val 4009"/>
              </a:avLst>
            </a:prstGeom>
            <a:noFill/>
            <a:ln w="12700">
              <a:solidFill>
                <a:schemeClr val="accent3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8620" name="TextBox 28">
              <a:extLst>
                <a:ext uri="{FF2B5EF4-FFF2-40B4-BE49-F238E27FC236}">
                  <a16:creationId xmlns:a16="http://schemas.microsoft.com/office/drawing/2014/main" id="{997DBA64-5488-FF75-2825-0AB0C1CED79D}"/>
                </a:ext>
              </a:extLst>
            </p:cNvPr>
            <p:cNvSpPr txBox="1"/>
            <p:nvPr/>
          </p:nvSpPr>
          <p:spPr>
            <a:xfrm>
              <a:off x="8191534" y="5047742"/>
              <a:ext cx="1007902" cy="251232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txBody>
            <a:bodyPr wrap="square" rtlCol="0">
              <a:spAutoFit/>
            </a:bodyPr>
            <a:lstStyle/>
            <a:p>
              <a:pPr defTabSz="413385" hangingPunct="0">
                <a:defRPr/>
              </a:pPr>
              <a:r>
                <a:rPr lang="en-US" sz="600" kern="0" dirty="0">
                  <a:solidFill>
                    <a:sysClr val="windowText" lastClr="000000"/>
                  </a:solidFill>
                  <a:latin typeface="Alibaba PuHuiTi R" pitchFamily="18" charset="-122"/>
                  <a:ea typeface="Alibaba PuHuiTi R" pitchFamily="18" charset="-122"/>
                  <a:cs typeface="Alibaba PuHuiTi R" pitchFamily="18" charset="-122"/>
                  <a:sym typeface="Helvetica Light"/>
                </a:rPr>
                <a:t>On-prem Drivers</a:t>
              </a:r>
            </a:p>
          </p:txBody>
        </p:sp>
        <p:pic>
          <p:nvPicPr>
            <p:cNvPr id="1048621" name="Picture 12">
              <a:extLst>
                <a:ext uri="{FF2B5EF4-FFF2-40B4-BE49-F238E27FC236}">
                  <a16:creationId xmlns:a16="http://schemas.microsoft.com/office/drawing/2014/main" id="{238E1EAC-2034-5A10-7D14-8EABCB89001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99411" y="3292482"/>
              <a:ext cx="1040139" cy="34888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1048622" name="肘形连接符 1048621">
              <a:extLst>
                <a:ext uri="{FF2B5EF4-FFF2-40B4-BE49-F238E27FC236}">
                  <a16:creationId xmlns:a16="http://schemas.microsoft.com/office/drawing/2014/main" id="{55642F43-FD81-7D81-F3E3-488AB41DB420}"/>
                </a:ext>
              </a:extLst>
            </p:cNvPr>
            <p:cNvCxnSpPr>
              <a:stCxn id="8" idx="3"/>
              <a:endCxn id="4" idx="1"/>
            </p:cNvCxnSpPr>
            <p:nvPr/>
          </p:nvCxnSpPr>
          <p:spPr>
            <a:xfrm flipV="1">
              <a:off x="7473682" y="4423798"/>
              <a:ext cx="531571" cy="1300690"/>
            </a:xfrm>
            <a:prstGeom prst="bentConnector3">
              <a:avLst>
                <a:gd name="adj1" fmla="val 25927"/>
              </a:avLst>
            </a:prstGeom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048623" name="Picture 14">
              <a:extLst>
                <a:ext uri="{FF2B5EF4-FFF2-40B4-BE49-F238E27FC236}">
                  <a16:creationId xmlns:a16="http://schemas.microsoft.com/office/drawing/2014/main" id="{904B7E28-A153-ED14-0171-F58C667A8FF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891937" y="4345726"/>
              <a:ext cx="1053193" cy="23090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48624" name="图形 1048623">
              <a:extLst>
                <a:ext uri="{FF2B5EF4-FFF2-40B4-BE49-F238E27FC236}">
                  <a16:creationId xmlns:a16="http://schemas.microsoft.com/office/drawing/2014/main" id="{BA0A75D1-B662-6253-6561-280FEEBC2363}"/>
                </a:ext>
              </a:extLst>
            </p:cNvPr>
            <p:cNvPicPr>
              <a:picLocks noChangeAspect="1"/>
            </p:cNvPicPr>
            <p:nvPr/>
          </p:nvPicPr>
          <p:blipFill>
            <a:blip r:embed="rId53">
              <a:extLst>
                <a:ext uri="{96DAC541-7B7A-43D3-8B79-37D633B846F1}">
                  <asvg:svgBlip xmlns:asvg="http://schemas.microsoft.com/office/drawing/2016/SVG/main" r:embed="rId54"/>
                </a:ext>
              </a:extLst>
            </a:blip>
            <a:stretch>
              <a:fillRect/>
            </a:stretch>
          </p:blipFill>
          <p:spPr>
            <a:xfrm>
              <a:off x="9875154" y="1664144"/>
              <a:ext cx="343201" cy="343201"/>
            </a:xfrm>
            <a:prstGeom prst="rect">
              <a:avLst/>
            </a:prstGeom>
          </p:spPr>
        </p:pic>
        <p:pic>
          <p:nvPicPr>
            <p:cNvPr id="1048625" name="图片 1048624">
              <a:extLst>
                <a:ext uri="{FF2B5EF4-FFF2-40B4-BE49-F238E27FC236}">
                  <a16:creationId xmlns:a16="http://schemas.microsoft.com/office/drawing/2014/main" id="{15316916-6D4C-BC69-AD14-E2555F11EC97}"/>
                </a:ext>
              </a:extLst>
            </p:cNvPr>
            <p:cNvPicPr>
              <a:picLocks noChangeAspect="1"/>
            </p:cNvPicPr>
            <p:nvPr/>
          </p:nvPicPr>
          <p:blipFill>
            <a:blip r:embed="rId55"/>
            <a:stretch>
              <a:fillRect/>
            </a:stretch>
          </p:blipFill>
          <p:spPr>
            <a:xfrm>
              <a:off x="8480756" y="1710542"/>
              <a:ext cx="216000" cy="21600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1" name="文本框 3"/>
          <p:cNvSpPr txBox="1"/>
          <p:nvPr/>
        </p:nvSpPr>
        <p:spPr>
          <a:xfrm>
            <a:off x="385763" y="171805"/>
            <a:ext cx="8213223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600" b="1" dirty="0">
                <a:solidFill>
                  <a:schemeClr val="bg1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rPr>
              <a:t>Background in</a:t>
            </a:r>
            <a:r>
              <a:rPr kumimoji="1" lang="zh-CN" altLang="en-US" sz="2600" b="1" dirty="0">
                <a:solidFill>
                  <a:schemeClr val="bg1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rPr>
              <a:t> </a:t>
            </a:r>
            <a:r>
              <a:rPr kumimoji="1" lang="en-US" altLang="zh-CN" sz="2600" b="1" dirty="0">
                <a:solidFill>
                  <a:schemeClr val="bg1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rPr>
              <a:t>Multi-cluster</a:t>
            </a:r>
            <a:r>
              <a:rPr kumimoji="1" lang="zh-CN" altLang="en-US" sz="2600" b="1" dirty="0">
                <a:solidFill>
                  <a:schemeClr val="bg1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rPr>
              <a:t> </a:t>
            </a:r>
            <a:r>
              <a:rPr kumimoji="1" lang="en-US" altLang="zh-CN" sz="2600" b="1" dirty="0">
                <a:solidFill>
                  <a:schemeClr val="bg1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rPr>
              <a:t>management</a:t>
            </a:r>
            <a:endParaRPr kumimoji="1" lang="zh-CN" altLang="en-US" sz="2600" b="1" dirty="0">
              <a:solidFill>
                <a:schemeClr val="bg1"/>
              </a:solidFill>
              <a:latin typeface="Alibaba PuHuiTi M" pitchFamily="18" charset="-122"/>
              <a:ea typeface="Alibaba PuHuiTi M" pitchFamily="18" charset="-122"/>
              <a:cs typeface="Alibaba PuHuiTi M" pitchFamily="18" charset="-122"/>
            </a:endParaRPr>
          </a:p>
        </p:txBody>
      </p:sp>
      <p:sp>
        <p:nvSpPr>
          <p:cNvPr id="1048602" name="矩形 4"/>
          <p:cNvSpPr/>
          <p:nvPr/>
        </p:nvSpPr>
        <p:spPr>
          <a:xfrm>
            <a:off x="474186" y="776141"/>
            <a:ext cx="752690" cy="36000"/>
          </a:xfrm>
          <a:prstGeom prst="rect">
            <a:avLst/>
          </a:prstGeom>
          <a:solidFill>
            <a:srgbClr val="00F1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/>
              <a:t> </a:t>
            </a:r>
          </a:p>
        </p:txBody>
      </p:sp>
      <p:sp>
        <p:nvSpPr>
          <p:cNvPr id="1048603" name="矩形 6"/>
          <p:cNvSpPr/>
          <p:nvPr/>
        </p:nvSpPr>
        <p:spPr>
          <a:xfrm>
            <a:off x="474186" y="776140"/>
            <a:ext cx="11412000" cy="18000"/>
          </a:xfrm>
          <a:prstGeom prst="rect">
            <a:avLst/>
          </a:prstGeom>
          <a:solidFill>
            <a:srgbClr val="00F1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/>
              <a:t> </a:t>
            </a:r>
          </a:p>
        </p:txBody>
      </p:sp>
      <p:pic>
        <p:nvPicPr>
          <p:cNvPr id="2" name="Picture 2" descr="Image">
            <a:extLst>
              <a:ext uri="{FF2B5EF4-FFF2-40B4-BE49-F238E27FC236}">
                <a16:creationId xmlns:a16="http://schemas.microsoft.com/office/drawing/2014/main" id="{B3EAC3D8-5276-1C23-9C4C-1C5ED2946EC3}"/>
              </a:ext>
            </a:extLst>
          </p:cNvPr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4186" y="1169686"/>
            <a:ext cx="3052800" cy="18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3B2F990A-1F66-7396-0FCE-16E8431512B9}"/>
              </a:ext>
            </a:extLst>
          </p:cNvPr>
          <p:cNvSpPr txBox="1"/>
          <p:nvPr/>
        </p:nvSpPr>
        <p:spPr>
          <a:xfrm>
            <a:off x="3722751" y="1669333"/>
            <a:ext cx="7093932" cy="8844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zh-CN" dirty="0">
                <a:solidFill>
                  <a:schemeClr val="bg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lt"/>
              </a:rPr>
              <a:t>O(M*N) complexity to manage M clusters with N users, systems or platforms, especially in multi-cloud/multi-region settings</a:t>
            </a:r>
            <a:endParaRPr lang="en-US" altLang="zh-CN" sz="1800" dirty="0">
              <a:solidFill>
                <a:schemeClr val="bg1"/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lt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40CE8EEE-1EA0-7103-1EF0-F5F28A9A21D8}"/>
              </a:ext>
            </a:extLst>
          </p:cNvPr>
          <p:cNvSpPr txBox="1"/>
          <p:nvPr/>
        </p:nvSpPr>
        <p:spPr>
          <a:xfrm>
            <a:off x="3855127" y="5092092"/>
            <a:ext cx="7163972" cy="8844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zh-CN" sz="1800" dirty="0">
                <a:solidFill>
                  <a:schemeClr val="bg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lt"/>
              </a:rPr>
              <a:t>The need to </a:t>
            </a:r>
            <a:r>
              <a:rPr lang="en-US" altLang="zh-CN" dirty="0">
                <a:solidFill>
                  <a:schemeClr val="bg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lt"/>
              </a:rPr>
              <a:t>improve </a:t>
            </a:r>
            <a:r>
              <a:rPr lang="en-US" altLang="zh-CN" sz="1800" dirty="0">
                <a:solidFill>
                  <a:schemeClr val="bg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lt"/>
              </a:rPr>
              <a:t>effectiveness of infrastructure and platform engineers</a:t>
            </a:r>
            <a:r>
              <a:rPr lang="en-US" altLang="zh-CN" dirty="0">
                <a:solidFill>
                  <a:schemeClr val="bg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lt"/>
              </a:rPr>
              <a:t> </a:t>
            </a:r>
            <a:r>
              <a:rPr lang="en-US" altLang="zh-CN" sz="1800" dirty="0">
                <a:solidFill>
                  <a:schemeClr val="bg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lt"/>
              </a:rPr>
              <a:t>by embracing new technologies like LLMs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2874CFE-1206-05A1-C385-84242600D109}"/>
              </a:ext>
            </a:extLst>
          </p:cNvPr>
          <p:cNvSpPr txBox="1"/>
          <p:nvPr/>
        </p:nvSpPr>
        <p:spPr>
          <a:xfrm>
            <a:off x="2000586" y="3380712"/>
            <a:ext cx="6349082" cy="8844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chemeClr val="bg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lt"/>
              </a:rPr>
              <a:t>The</a:t>
            </a:r>
            <a:r>
              <a:rPr lang="zh-CN" altLang="en-US" dirty="0">
                <a:solidFill>
                  <a:schemeClr val="bg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lt"/>
              </a:rPr>
              <a:t> </a:t>
            </a:r>
            <a:r>
              <a:rPr lang="en-US" altLang="zh-CN" dirty="0">
                <a:solidFill>
                  <a:schemeClr val="bg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lt"/>
              </a:rPr>
              <a:t>complexity</a:t>
            </a:r>
            <a:r>
              <a:rPr lang="zh-CN" altLang="en-US" dirty="0">
                <a:solidFill>
                  <a:schemeClr val="bg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lt"/>
              </a:rPr>
              <a:t> </a:t>
            </a:r>
            <a:r>
              <a:rPr lang="en-US" altLang="zh-CN" dirty="0">
                <a:solidFill>
                  <a:schemeClr val="bg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lt"/>
              </a:rPr>
              <a:t>of</a:t>
            </a:r>
            <a:r>
              <a:rPr lang="zh-CN" altLang="en-US" dirty="0">
                <a:solidFill>
                  <a:schemeClr val="bg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lt"/>
              </a:rPr>
              <a:t> </a:t>
            </a:r>
            <a:r>
              <a:rPr lang="en-US" altLang="zh-CN" dirty="0">
                <a:solidFill>
                  <a:schemeClr val="bg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lt"/>
              </a:rPr>
              <a:t>Kubernetes itself including its upstream and downstream systems grows over time</a:t>
            </a: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5ABA5560-BF7C-8E1D-82B1-78C1A23A4E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4186" y="4627384"/>
            <a:ext cx="3054178" cy="18138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ACDEA429-84FA-5932-57B3-C8F136617A47}"/>
              </a:ext>
            </a:extLst>
          </p:cNvPr>
          <p:cNvPicPr>
            <a:picLocks/>
          </p:cNvPicPr>
          <p:nvPr/>
        </p:nvPicPr>
        <p:blipFill>
          <a:blip r:embed="rId5"/>
          <a:stretch>
            <a:fillRect/>
          </a:stretch>
        </p:blipFill>
        <p:spPr>
          <a:xfrm>
            <a:off x="8598986" y="2902401"/>
            <a:ext cx="3052800" cy="18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66888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1" name="文本框 3"/>
          <p:cNvSpPr txBox="1"/>
          <p:nvPr/>
        </p:nvSpPr>
        <p:spPr>
          <a:xfrm>
            <a:off x="385764" y="171805"/>
            <a:ext cx="4364656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600" b="1" dirty="0">
                <a:solidFill>
                  <a:schemeClr val="bg1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rPr>
              <a:t>What do our users need? </a:t>
            </a:r>
            <a:endParaRPr kumimoji="1" lang="zh-CN" altLang="en-US" sz="2600" b="1" dirty="0">
              <a:solidFill>
                <a:schemeClr val="bg1"/>
              </a:solidFill>
              <a:latin typeface="Alibaba PuHuiTi M" pitchFamily="18" charset="-122"/>
              <a:ea typeface="Alibaba PuHuiTi M" pitchFamily="18" charset="-122"/>
              <a:cs typeface="Alibaba PuHuiTi M" pitchFamily="18" charset="-122"/>
            </a:endParaRPr>
          </a:p>
        </p:txBody>
      </p:sp>
      <p:sp>
        <p:nvSpPr>
          <p:cNvPr id="1048602" name="矩形 4"/>
          <p:cNvSpPr/>
          <p:nvPr/>
        </p:nvSpPr>
        <p:spPr>
          <a:xfrm>
            <a:off x="474186" y="776141"/>
            <a:ext cx="752690" cy="36000"/>
          </a:xfrm>
          <a:prstGeom prst="rect">
            <a:avLst/>
          </a:prstGeom>
          <a:solidFill>
            <a:srgbClr val="00F1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/>
              <a:t> </a:t>
            </a:r>
          </a:p>
        </p:txBody>
      </p:sp>
      <p:sp>
        <p:nvSpPr>
          <p:cNvPr id="1048603" name="矩形 6"/>
          <p:cNvSpPr/>
          <p:nvPr/>
        </p:nvSpPr>
        <p:spPr>
          <a:xfrm>
            <a:off x="474186" y="776140"/>
            <a:ext cx="11412000" cy="18000"/>
          </a:xfrm>
          <a:prstGeom prst="rect">
            <a:avLst/>
          </a:prstGeom>
          <a:solidFill>
            <a:srgbClr val="00F1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/>
              <a:t> 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40CE8EEE-1EA0-7103-1EF0-F5F28A9A21D8}"/>
              </a:ext>
            </a:extLst>
          </p:cNvPr>
          <p:cNvSpPr txBox="1"/>
          <p:nvPr/>
        </p:nvSpPr>
        <p:spPr>
          <a:xfrm>
            <a:off x="385764" y="1228219"/>
            <a:ext cx="8160211" cy="503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zh-CN" b="1" dirty="0">
                <a:solidFill>
                  <a:schemeClr val="bg1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  <a:sym typeface="+mn-lt"/>
              </a:rPr>
              <a:t>【Quickly Locate Resources】</a:t>
            </a:r>
            <a:r>
              <a:rPr lang="en-US" altLang="zh-CN" dirty="0">
                <a:solidFill>
                  <a:schemeClr val="bg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lt"/>
              </a:rPr>
              <a:t>How do I find a specific (set of) resource(s) across tens or hundreds of clusters? Where are my applications located? What resources do they include?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b="1" dirty="0">
                <a:solidFill>
                  <a:schemeClr val="bg1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  <a:sym typeface="+mn-lt"/>
              </a:rPr>
              <a:t>【Resource Topologies】</a:t>
            </a:r>
            <a:r>
              <a:rPr lang="en-US" altLang="zh-CN" dirty="0">
                <a:solidFill>
                  <a:schemeClr val="bg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lt"/>
              </a:rPr>
              <a:t>How does a group of logically-relevant resources relate to each other?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b="1" dirty="0">
                <a:solidFill>
                  <a:schemeClr val="bg1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  <a:sym typeface="+mn-lt"/>
              </a:rPr>
              <a:t>【Logical View】</a:t>
            </a:r>
            <a:r>
              <a:rPr lang="en-US" altLang="zh-CN" dirty="0">
                <a:solidFill>
                  <a:schemeClr val="bg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lt"/>
              </a:rPr>
              <a:t>How to map Kubernetes resources to business-related domain models such as applications or environments</a:t>
            </a:r>
            <a:r>
              <a:rPr lang="zh-CN" altLang="en-US" dirty="0">
                <a:solidFill>
                  <a:schemeClr val="bg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lt"/>
              </a:rPr>
              <a:t>？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b="1" dirty="0">
                <a:solidFill>
                  <a:schemeClr val="bg1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  <a:sym typeface="+mn-lt"/>
              </a:rPr>
              <a:t>【Security and Compliance】</a:t>
            </a:r>
            <a:r>
              <a:rPr lang="en-US" altLang="zh-CN" dirty="0">
                <a:solidFill>
                  <a:schemeClr val="bg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lt"/>
              </a:rPr>
              <a:t>Are my clusters/resources safe</a:t>
            </a:r>
            <a:r>
              <a:rPr lang="zh-CN" altLang="en-US" dirty="0">
                <a:solidFill>
                  <a:schemeClr val="bg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lt"/>
              </a:rPr>
              <a:t>？</a:t>
            </a:r>
            <a:r>
              <a:rPr lang="en-US" altLang="zh-CN" dirty="0">
                <a:solidFill>
                  <a:schemeClr val="bg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lt"/>
              </a:rPr>
              <a:t>Are there any unflagged risks, vulnerabilities or attack vectors?</a:t>
            </a:r>
            <a:r>
              <a:rPr lang="zh-CN" altLang="en-US" dirty="0">
                <a:solidFill>
                  <a:schemeClr val="bg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lt"/>
              </a:rPr>
              <a:t> </a:t>
            </a:r>
            <a:endParaRPr lang="en-US" altLang="zh-CN" dirty="0">
              <a:solidFill>
                <a:schemeClr val="bg1"/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lt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b="1" dirty="0">
                <a:solidFill>
                  <a:schemeClr val="bg1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  <a:sym typeface="+mn-lt"/>
              </a:rPr>
              <a:t>【Troubleshooting】</a:t>
            </a:r>
            <a:r>
              <a:rPr lang="en-US" altLang="zh-CN" dirty="0">
                <a:solidFill>
                  <a:schemeClr val="bg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lt"/>
              </a:rPr>
              <a:t>Did someone alter a particular resource? Is there a visualized timeline of changes?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dirty="0">
                <a:solidFill>
                  <a:schemeClr val="bg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lt"/>
              </a:rPr>
              <a:t>……</a:t>
            </a:r>
          </a:p>
        </p:txBody>
      </p:sp>
      <p:pic>
        <p:nvPicPr>
          <p:cNvPr id="3076" name="Picture 4" descr="Thinking Emoji Icon PNG Free Download">
            <a:extLst>
              <a:ext uri="{FF2B5EF4-FFF2-40B4-BE49-F238E27FC236}">
                <a16:creationId xmlns:a16="http://schemas.microsoft.com/office/drawing/2014/main" id="{0E87B20B-A4F1-26B7-F319-3EED86EBD8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45975" y="1754916"/>
            <a:ext cx="3155066" cy="31550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574115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1" name="文本框 3"/>
          <p:cNvSpPr txBox="1"/>
          <p:nvPr/>
        </p:nvSpPr>
        <p:spPr>
          <a:xfrm>
            <a:off x="385764" y="171805"/>
            <a:ext cx="2850732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600" b="1" dirty="0">
                <a:solidFill>
                  <a:schemeClr val="bg1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rPr>
              <a:t>Pain Points</a:t>
            </a:r>
            <a:endParaRPr kumimoji="1" lang="zh-CN" altLang="en-US" sz="2600" b="1" dirty="0">
              <a:solidFill>
                <a:schemeClr val="bg1"/>
              </a:solidFill>
              <a:latin typeface="Alibaba PuHuiTi M" pitchFamily="18" charset="-122"/>
              <a:ea typeface="Alibaba PuHuiTi M" pitchFamily="18" charset="-122"/>
              <a:cs typeface="Alibaba PuHuiTi M" pitchFamily="18" charset="-122"/>
            </a:endParaRPr>
          </a:p>
        </p:txBody>
      </p:sp>
      <p:sp>
        <p:nvSpPr>
          <p:cNvPr id="1048602" name="矩形 4"/>
          <p:cNvSpPr/>
          <p:nvPr/>
        </p:nvSpPr>
        <p:spPr>
          <a:xfrm>
            <a:off x="474186" y="776141"/>
            <a:ext cx="752690" cy="36000"/>
          </a:xfrm>
          <a:prstGeom prst="rect">
            <a:avLst/>
          </a:prstGeom>
          <a:solidFill>
            <a:srgbClr val="00F1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/>
              <a:t> </a:t>
            </a:r>
          </a:p>
        </p:txBody>
      </p:sp>
      <p:sp>
        <p:nvSpPr>
          <p:cNvPr id="1048603" name="矩形 6"/>
          <p:cNvSpPr/>
          <p:nvPr/>
        </p:nvSpPr>
        <p:spPr>
          <a:xfrm>
            <a:off x="474186" y="776140"/>
            <a:ext cx="11412000" cy="18000"/>
          </a:xfrm>
          <a:prstGeom prst="rect">
            <a:avLst/>
          </a:prstGeom>
          <a:solidFill>
            <a:srgbClr val="00F1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/>
              <a:t> 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D5EADC8B-BE68-7959-083C-14B3423102D3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6428452" y="3979225"/>
            <a:ext cx="2941200" cy="2145600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1D156A04-AD22-0D8C-A908-B124853F6789}"/>
              </a:ext>
            </a:extLst>
          </p:cNvPr>
          <p:cNvPicPr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2659151" y="3972010"/>
            <a:ext cx="2941200" cy="2145600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D91C8DD6-CF86-EC24-C1D7-A7CAB9514783}"/>
              </a:ext>
            </a:extLst>
          </p:cNvPr>
          <p:cNvPicPr>
            <a:picLocks/>
          </p:cNvPicPr>
          <p:nvPr/>
        </p:nvPicPr>
        <p:blipFill>
          <a:blip r:embed="rId5"/>
          <a:stretch>
            <a:fillRect/>
          </a:stretch>
        </p:blipFill>
        <p:spPr>
          <a:xfrm>
            <a:off x="8195952" y="1229115"/>
            <a:ext cx="2941200" cy="214560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DC4E9B19-3B8F-CE74-49E9-1A64C09B2840}"/>
              </a:ext>
            </a:extLst>
          </p:cNvPr>
          <p:cNvPicPr>
            <a:picLocks/>
          </p:cNvPicPr>
          <p:nvPr/>
        </p:nvPicPr>
        <p:blipFill>
          <a:blip r:embed="rId6"/>
          <a:stretch>
            <a:fillRect/>
          </a:stretch>
        </p:blipFill>
        <p:spPr>
          <a:xfrm>
            <a:off x="4543801" y="1231583"/>
            <a:ext cx="2941200" cy="2145600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C05F7C86-B82C-D14A-9E11-41037207E08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0258" y="1230975"/>
            <a:ext cx="2942592" cy="2146208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E6EF84BF-48F4-0FCE-1BD4-5B5878209505}"/>
              </a:ext>
            </a:extLst>
          </p:cNvPr>
          <p:cNvSpPr txBox="1"/>
          <p:nvPr/>
        </p:nvSpPr>
        <p:spPr>
          <a:xfrm>
            <a:off x="624587" y="3456198"/>
            <a:ext cx="34739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dirty="0">
                <a:solidFill>
                  <a:schemeClr val="bg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User Credential Management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E52ABF30-DC21-8EDA-C41A-D5DCD2443CF2}"/>
              </a:ext>
            </a:extLst>
          </p:cNvPr>
          <p:cNvSpPr txBox="1"/>
          <p:nvPr/>
        </p:nvSpPr>
        <p:spPr>
          <a:xfrm>
            <a:off x="4129751" y="3467048"/>
            <a:ext cx="376930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dirty="0">
                <a:solidFill>
                  <a:schemeClr val="bg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Complex System Integrations</a:t>
            </a:r>
            <a:endParaRPr lang="zh-CN" altLang="en-US" dirty="0">
              <a:solidFill>
                <a:schemeClr val="bg1"/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BBB75659-EE40-0AD7-0813-04D9CB359DFF}"/>
              </a:ext>
            </a:extLst>
          </p:cNvPr>
          <p:cNvSpPr txBox="1"/>
          <p:nvPr/>
        </p:nvSpPr>
        <p:spPr>
          <a:xfrm>
            <a:off x="8235746" y="3483286"/>
            <a:ext cx="286161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dirty="0">
                <a:solidFill>
                  <a:schemeClr val="bg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Convoluted Permissions</a:t>
            </a:r>
            <a:endParaRPr lang="zh-CN" altLang="en-US" dirty="0">
              <a:solidFill>
                <a:schemeClr val="bg1"/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979EBF67-F89E-AAD7-18C3-F1015F9D770E}"/>
              </a:ext>
            </a:extLst>
          </p:cNvPr>
          <p:cNvSpPr txBox="1"/>
          <p:nvPr/>
        </p:nvSpPr>
        <p:spPr>
          <a:xfrm>
            <a:off x="2156382" y="6253240"/>
            <a:ext cx="39467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dirty="0">
                <a:solidFill>
                  <a:schemeClr val="bg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Hard to Extract Helpful Insights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70181983-B072-DC27-2AFE-9DF6AF3CDD81}"/>
              </a:ext>
            </a:extLst>
          </p:cNvPr>
          <p:cNvSpPr txBox="1"/>
          <p:nvPr/>
        </p:nvSpPr>
        <p:spPr>
          <a:xfrm>
            <a:off x="6205409" y="6250180"/>
            <a:ext cx="33872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dirty="0">
                <a:solidFill>
                  <a:schemeClr val="bg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Need to improve efficiency</a:t>
            </a:r>
          </a:p>
        </p:txBody>
      </p:sp>
    </p:spTree>
    <p:extLst>
      <p:ext uri="{BB962C8B-B14F-4D97-AF65-F5344CB8AC3E}">
        <p14:creationId xmlns:p14="http://schemas.microsoft.com/office/powerpoint/2010/main" val="24237134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1" name="文本框 3"/>
          <p:cNvSpPr txBox="1"/>
          <p:nvPr/>
        </p:nvSpPr>
        <p:spPr>
          <a:xfrm>
            <a:off x="385764" y="171805"/>
            <a:ext cx="1788724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600" b="1" dirty="0">
                <a:solidFill>
                  <a:schemeClr val="bg1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rPr>
              <a:t>Solutions</a:t>
            </a:r>
            <a:endParaRPr kumimoji="1" lang="zh-CN" altLang="en-US" sz="2600" b="1" dirty="0">
              <a:solidFill>
                <a:schemeClr val="bg1"/>
              </a:solidFill>
              <a:latin typeface="Alibaba PuHuiTi M" pitchFamily="18" charset="-122"/>
              <a:ea typeface="Alibaba PuHuiTi M" pitchFamily="18" charset="-122"/>
              <a:cs typeface="Alibaba PuHuiTi M" pitchFamily="18" charset="-122"/>
            </a:endParaRPr>
          </a:p>
        </p:txBody>
      </p:sp>
      <p:sp>
        <p:nvSpPr>
          <p:cNvPr id="1048602" name="矩形 4"/>
          <p:cNvSpPr/>
          <p:nvPr/>
        </p:nvSpPr>
        <p:spPr>
          <a:xfrm>
            <a:off x="474186" y="776141"/>
            <a:ext cx="752690" cy="36000"/>
          </a:xfrm>
          <a:prstGeom prst="rect">
            <a:avLst/>
          </a:prstGeom>
          <a:solidFill>
            <a:srgbClr val="00F1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/>
              <a:t> </a:t>
            </a:r>
          </a:p>
        </p:txBody>
      </p:sp>
      <p:sp>
        <p:nvSpPr>
          <p:cNvPr id="1048603" name="矩形 6"/>
          <p:cNvSpPr/>
          <p:nvPr/>
        </p:nvSpPr>
        <p:spPr>
          <a:xfrm>
            <a:off x="474186" y="776140"/>
            <a:ext cx="11412000" cy="18000"/>
          </a:xfrm>
          <a:prstGeom prst="rect">
            <a:avLst/>
          </a:prstGeom>
          <a:solidFill>
            <a:srgbClr val="00F1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/>
              <a:t> </a:t>
            </a:r>
          </a:p>
        </p:txBody>
      </p:sp>
      <p:sp>
        <p:nvSpPr>
          <p:cNvPr id="2" name="Right Arrow 3">
            <a:extLst>
              <a:ext uri="{FF2B5EF4-FFF2-40B4-BE49-F238E27FC236}">
                <a16:creationId xmlns:a16="http://schemas.microsoft.com/office/drawing/2014/main" id="{87D0FE05-5B40-3942-E189-3726CFDC0822}"/>
              </a:ext>
            </a:extLst>
          </p:cNvPr>
          <p:cNvSpPr/>
          <p:nvPr/>
        </p:nvSpPr>
        <p:spPr>
          <a:xfrm>
            <a:off x="5078645" y="2306751"/>
            <a:ext cx="1022399" cy="583813"/>
          </a:xfrm>
          <a:prstGeom prst="rightArrow">
            <a:avLst>
              <a:gd name="adj1" fmla="val 46406"/>
              <a:gd name="adj2" fmla="val 80024"/>
            </a:avLst>
          </a:prstGeom>
          <a:gradFill>
            <a:gsLst>
              <a:gs pos="0">
                <a:srgbClr val="04A6FF"/>
              </a:gs>
              <a:gs pos="100000">
                <a:srgbClr val="1871FF"/>
              </a:gs>
            </a:gsLst>
            <a:lin ang="10800000"/>
          </a:gradFill>
          <a:ln w="12700">
            <a:miter lim="400000"/>
          </a:ln>
        </p:spPr>
        <p:txBody>
          <a:bodyPr lIns="45719" rIns="45719" anchor="ctr"/>
          <a:lstStyle/>
          <a:p>
            <a:pPr algn="l" defTabSz="1204912">
              <a:defRPr sz="460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  <p:sp>
        <p:nvSpPr>
          <p:cNvPr id="3" name="集群本地存储+OSS冷存架构性价比">
            <a:extLst>
              <a:ext uri="{FF2B5EF4-FFF2-40B4-BE49-F238E27FC236}">
                <a16:creationId xmlns:a16="http://schemas.microsoft.com/office/drawing/2014/main" id="{98BEFE4A-5238-10DA-75D6-15586F4C1AC4}"/>
              </a:ext>
            </a:extLst>
          </p:cNvPr>
          <p:cNvSpPr txBox="1"/>
          <p:nvPr/>
        </p:nvSpPr>
        <p:spPr>
          <a:xfrm>
            <a:off x="1850166" y="1217236"/>
            <a:ext cx="2593322" cy="3693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>
            <a:spAutoFit/>
          </a:bodyPr>
          <a:lstStyle>
            <a:lvl1pPr algn="l" defTabSz="274320">
              <a:defRPr sz="5000">
                <a:solidFill>
                  <a:srgbClr val="373737"/>
                </a:solidFill>
                <a:latin typeface="Alibaba-PuHuiTi-M"/>
                <a:ea typeface="Alibaba-PuHuiTi-M"/>
                <a:cs typeface="Alibaba-PuHuiTi-M"/>
                <a:sym typeface="Alibaba-PuHuiTi-M"/>
              </a:defRPr>
            </a:lvl1pPr>
          </a:lstStyle>
          <a:p>
            <a:r>
              <a:rPr lang="en-US" altLang="zh-CN" sz="2400" b="1" dirty="0">
                <a:solidFill>
                  <a:schemeClr val="bg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Problems with…</a:t>
            </a:r>
            <a:endParaRPr lang="zh-CN" altLang="en-US" sz="2400" b="1" dirty="0">
              <a:solidFill>
                <a:schemeClr val="bg1"/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A8543DD1-F47E-A837-F796-95D96E6B6B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7410" y="1178354"/>
            <a:ext cx="413327" cy="404892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CD50DC14-693A-FE11-E901-B5E9EEDD51DD}"/>
              </a:ext>
            </a:extLst>
          </p:cNvPr>
          <p:cNvSpPr txBox="1"/>
          <p:nvPr/>
        </p:nvSpPr>
        <p:spPr>
          <a:xfrm>
            <a:off x="7748513" y="1156645"/>
            <a:ext cx="225334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⭐️</a:t>
            </a:r>
            <a:r>
              <a:rPr lang="zh-CN" altLang="en-US" sz="2800" b="1" dirty="0">
                <a:solidFill>
                  <a:schemeClr val="bg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 </a:t>
            </a:r>
            <a:r>
              <a:rPr lang="en-US" altLang="zh-CN" sz="2800" b="1" dirty="0">
                <a:solidFill>
                  <a:schemeClr val="bg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Ideas</a:t>
            </a:r>
            <a:endParaRPr lang="zh-CN" altLang="en-US" sz="2800" b="1" dirty="0">
              <a:solidFill>
                <a:schemeClr val="bg1"/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  <p:sp>
        <p:nvSpPr>
          <p:cNvPr id="6" name="圆角矩形 5">
            <a:extLst>
              <a:ext uri="{FF2B5EF4-FFF2-40B4-BE49-F238E27FC236}">
                <a16:creationId xmlns:a16="http://schemas.microsoft.com/office/drawing/2014/main" id="{D5F51356-DD0D-656A-FBE0-A3C96ACD266F}"/>
              </a:ext>
            </a:extLst>
          </p:cNvPr>
          <p:cNvSpPr/>
          <p:nvPr/>
        </p:nvSpPr>
        <p:spPr>
          <a:xfrm>
            <a:off x="1014761" y="1908197"/>
            <a:ext cx="1705813" cy="66294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Credential Management</a:t>
            </a:r>
            <a:endParaRPr kumimoji="1" lang="zh-CN" altLang="en-US" dirty="0"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  <p:sp>
        <p:nvSpPr>
          <p:cNvPr id="7" name="圆角矩形 6">
            <a:extLst>
              <a:ext uri="{FF2B5EF4-FFF2-40B4-BE49-F238E27FC236}">
                <a16:creationId xmlns:a16="http://schemas.microsoft.com/office/drawing/2014/main" id="{75392736-1DFA-870F-F1C7-2240347FE6DF}"/>
              </a:ext>
            </a:extLst>
          </p:cNvPr>
          <p:cNvSpPr/>
          <p:nvPr/>
        </p:nvSpPr>
        <p:spPr>
          <a:xfrm>
            <a:off x="6680538" y="2174254"/>
            <a:ext cx="4389293" cy="662940"/>
          </a:xfrm>
          <a:prstGeom prst="round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bg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Multi-cluster Proxy</a:t>
            </a:r>
            <a:r>
              <a:rPr lang="zh-CN" altLang="en-US" dirty="0">
                <a:solidFill>
                  <a:schemeClr val="bg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，</a:t>
            </a:r>
            <a:r>
              <a:rPr kumimoji="1" lang="en-US" altLang="zh-CN" dirty="0">
                <a:solidFill>
                  <a:schemeClr val="bg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Single Entrance with Unified Permission Management</a:t>
            </a:r>
            <a:endParaRPr lang="en-US" altLang="zh-CN" dirty="0">
              <a:solidFill>
                <a:schemeClr val="bg1"/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  <p:sp>
        <p:nvSpPr>
          <p:cNvPr id="8" name="圆角矩形 7">
            <a:extLst>
              <a:ext uri="{FF2B5EF4-FFF2-40B4-BE49-F238E27FC236}">
                <a16:creationId xmlns:a16="http://schemas.microsoft.com/office/drawing/2014/main" id="{0E9DFA12-F8E4-A315-FC94-0580F480C0FB}"/>
              </a:ext>
            </a:extLst>
          </p:cNvPr>
          <p:cNvSpPr/>
          <p:nvPr/>
        </p:nvSpPr>
        <p:spPr>
          <a:xfrm>
            <a:off x="6670824" y="3220544"/>
            <a:ext cx="4389292" cy="662940"/>
          </a:xfrm>
          <a:prstGeom prst="round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Real-time HA Data Synchronization into storage, w/ Transformations</a:t>
            </a:r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6DB7306F-9080-2268-B738-E889382E2634}"/>
              </a:ext>
            </a:extLst>
          </p:cNvPr>
          <p:cNvSpPr/>
          <p:nvPr/>
        </p:nvSpPr>
        <p:spPr>
          <a:xfrm>
            <a:off x="6670826" y="4251509"/>
            <a:ext cx="4389290" cy="662940"/>
          </a:xfrm>
          <a:prstGeom prst="round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Search and Insights with single, aggregated and custom views</a:t>
            </a:r>
          </a:p>
        </p:txBody>
      </p:sp>
      <p:sp>
        <p:nvSpPr>
          <p:cNvPr id="10" name="圆角矩形 9">
            <a:extLst>
              <a:ext uri="{FF2B5EF4-FFF2-40B4-BE49-F238E27FC236}">
                <a16:creationId xmlns:a16="http://schemas.microsoft.com/office/drawing/2014/main" id="{0D64CFD4-22A8-3EF0-093F-E50268B85DE6}"/>
              </a:ext>
            </a:extLst>
          </p:cNvPr>
          <p:cNvSpPr/>
          <p:nvPr/>
        </p:nvSpPr>
        <p:spPr>
          <a:xfrm>
            <a:off x="6680538" y="5277825"/>
            <a:ext cx="4379578" cy="662940"/>
          </a:xfrm>
          <a:prstGeom prst="round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AI</a:t>
            </a:r>
            <a:r>
              <a:rPr lang="zh-CN" altLang="en-US" dirty="0">
                <a:solidFill>
                  <a:schemeClr val="tx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 </a:t>
            </a:r>
            <a:r>
              <a:rPr lang="en-US" altLang="zh-CN" dirty="0">
                <a:solidFill>
                  <a:schemeClr val="tx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for Kubernetes. Analyze data, produce reports and search with NL</a:t>
            </a:r>
          </a:p>
        </p:txBody>
      </p:sp>
      <p:sp>
        <p:nvSpPr>
          <p:cNvPr id="11" name="圆角矩形 10">
            <a:extLst>
              <a:ext uri="{FF2B5EF4-FFF2-40B4-BE49-F238E27FC236}">
                <a16:creationId xmlns:a16="http://schemas.microsoft.com/office/drawing/2014/main" id="{ABEFFC45-FD23-E984-E89C-0ED24C2DC6DC}"/>
              </a:ext>
            </a:extLst>
          </p:cNvPr>
          <p:cNvSpPr/>
          <p:nvPr/>
        </p:nvSpPr>
        <p:spPr>
          <a:xfrm>
            <a:off x="2841027" y="1908197"/>
            <a:ext cx="1620000" cy="66294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System Integrations</a:t>
            </a:r>
            <a:endParaRPr kumimoji="1" lang="zh-CN" altLang="en-US" dirty="0"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  <p:sp>
        <p:nvSpPr>
          <p:cNvPr id="12" name="圆角矩形 11">
            <a:extLst>
              <a:ext uri="{FF2B5EF4-FFF2-40B4-BE49-F238E27FC236}">
                <a16:creationId xmlns:a16="http://schemas.microsoft.com/office/drawing/2014/main" id="{C3205858-FE40-16BD-716D-2C3373381C20}"/>
              </a:ext>
            </a:extLst>
          </p:cNvPr>
          <p:cNvSpPr/>
          <p:nvPr/>
        </p:nvSpPr>
        <p:spPr>
          <a:xfrm>
            <a:off x="1965035" y="2699523"/>
            <a:ext cx="1620000" cy="66294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Complex Permissions</a:t>
            </a:r>
            <a:endParaRPr kumimoji="1" lang="zh-CN" altLang="en-US" dirty="0"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  <p:sp>
        <p:nvSpPr>
          <p:cNvPr id="13" name="圆角矩形 12">
            <a:extLst>
              <a:ext uri="{FF2B5EF4-FFF2-40B4-BE49-F238E27FC236}">
                <a16:creationId xmlns:a16="http://schemas.microsoft.com/office/drawing/2014/main" id="{626FD58A-7548-47E4-0D6C-39D40355972D}"/>
              </a:ext>
            </a:extLst>
          </p:cNvPr>
          <p:cNvSpPr/>
          <p:nvPr/>
        </p:nvSpPr>
        <p:spPr>
          <a:xfrm>
            <a:off x="1014761" y="3724142"/>
            <a:ext cx="1705813" cy="662940"/>
          </a:xfrm>
          <a:prstGeom prst="round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Cross-cluster Search</a:t>
            </a:r>
            <a:endParaRPr kumimoji="1" lang="zh-CN" altLang="en-US" dirty="0"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  <p:sp>
        <p:nvSpPr>
          <p:cNvPr id="14" name="Right Arrow 3">
            <a:extLst>
              <a:ext uri="{FF2B5EF4-FFF2-40B4-BE49-F238E27FC236}">
                <a16:creationId xmlns:a16="http://schemas.microsoft.com/office/drawing/2014/main" id="{BE04014A-4687-30E0-5FBF-E35EB313C6A4}"/>
              </a:ext>
            </a:extLst>
          </p:cNvPr>
          <p:cNvSpPr/>
          <p:nvPr/>
        </p:nvSpPr>
        <p:spPr>
          <a:xfrm>
            <a:off x="5078645" y="3763706"/>
            <a:ext cx="1022399" cy="583813"/>
          </a:xfrm>
          <a:prstGeom prst="rightArrow">
            <a:avLst>
              <a:gd name="adj1" fmla="val 46406"/>
              <a:gd name="adj2" fmla="val 80024"/>
            </a:avLst>
          </a:prstGeom>
          <a:gradFill>
            <a:gsLst>
              <a:gs pos="100000">
                <a:schemeClr val="accent3"/>
              </a:gs>
              <a:gs pos="0">
                <a:schemeClr val="accent3"/>
              </a:gs>
              <a:gs pos="100000">
                <a:srgbClr val="1871FF"/>
              </a:gs>
            </a:gsLst>
            <a:lin ang="10800000"/>
          </a:gradFill>
          <a:ln w="12700">
            <a:miter lim="400000"/>
          </a:ln>
        </p:spPr>
        <p:txBody>
          <a:bodyPr lIns="45719" rIns="45719" anchor="ctr"/>
          <a:lstStyle/>
          <a:p>
            <a:pPr algn="l" defTabSz="1204912">
              <a:defRPr sz="460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  <p:sp>
        <p:nvSpPr>
          <p:cNvPr id="15" name="圆角矩形 14">
            <a:extLst>
              <a:ext uri="{FF2B5EF4-FFF2-40B4-BE49-F238E27FC236}">
                <a16:creationId xmlns:a16="http://schemas.microsoft.com/office/drawing/2014/main" id="{716EBA15-F4C3-8453-D429-E5DF32BD4DF8}"/>
              </a:ext>
            </a:extLst>
          </p:cNvPr>
          <p:cNvSpPr/>
          <p:nvPr/>
        </p:nvSpPr>
        <p:spPr>
          <a:xfrm>
            <a:off x="1965035" y="5278826"/>
            <a:ext cx="1620000" cy="662940"/>
          </a:xfrm>
          <a:prstGeom prst="round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Empower with AI</a:t>
            </a:r>
            <a:endParaRPr kumimoji="1" lang="zh-CN" altLang="en-US" dirty="0">
              <a:solidFill>
                <a:schemeClr val="tx1"/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  <p:sp>
        <p:nvSpPr>
          <p:cNvPr id="16" name="Right Arrow 3">
            <a:extLst>
              <a:ext uri="{FF2B5EF4-FFF2-40B4-BE49-F238E27FC236}">
                <a16:creationId xmlns:a16="http://schemas.microsoft.com/office/drawing/2014/main" id="{F9904CF5-3742-3A07-0454-6DA77390B3D0}"/>
              </a:ext>
            </a:extLst>
          </p:cNvPr>
          <p:cNvSpPr/>
          <p:nvPr/>
        </p:nvSpPr>
        <p:spPr>
          <a:xfrm>
            <a:off x="5078645" y="5365034"/>
            <a:ext cx="1022399" cy="583813"/>
          </a:xfrm>
          <a:prstGeom prst="rightArrow">
            <a:avLst>
              <a:gd name="adj1" fmla="val 46406"/>
              <a:gd name="adj2" fmla="val 80024"/>
            </a:avLst>
          </a:prstGeom>
          <a:solidFill>
            <a:schemeClr val="accent4"/>
          </a:solidFill>
          <a:ln w="12700">
            <a:miter lim="400000"/>
          </a:ln>
        </p:spPr>
        <p:txBody>
          <a:bodyPr lIns="45719" rIns="45719" anchor="ctr"/>
          <a:lstStyle/>
          <a:p>
            <a:pPr algn="l" defTabSz="1204912">
              <a:defRPr sz="460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  <p:sp>
        <p:nvSpPr>
          <p:cNvPr id="17" name="圆角矩形 16">
            <a:extLst>
              <a:ext uri="{FF2B5EF4-FFF2-40B4-BE49-F238E27FC236}">
                <a16:creationId xmlns:a16="http://schemas.microsoft.com/office/drawing/2014/main" id="{5E67F140-AA64-C47F-289E-9DEA9246B79D}"/>
              </a:ext>
            </a:extLst>
          </p:cNvPr>
          <p:cNvSpPr/>
          <p:nvPr/>
        </p:nvSpPr>
        <p:spPr>
          <a:xfrm>
            <a:off x="2841027" y="3712816"/>
            <a:ext cx="1620000" cy="662940"/>
          </a:xfrm>
          <a:prstGeom prst="round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Insight Extraction</a:t>
            </a:r>
            <a:endParaRPr kumimoji="1" lang="zh-CN" altLang="en-US" dirty="0"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155725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4" name="文本框 6"/>
          <p:cNvSpPr txBox="1"/>
          <p:nvPr/>
        </p:nvSpPr>
        <p:spPr>
          <a:xfrm>
            <a:off x="385763" y="171805"/>
            <a:ext cx="5040479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600" b="1" dirty="0">
                <a:solidFill>
                  <a:schemeClr val="bg1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rPr>
              <a:t>Multi-cluster</a:t>
            </a:r>
            <a:r>
              <a:rPr kumimoji="1" lang="zh-CN" altLang="en-US" sz="2600" b="1" dirty="0">
                <a:solidFill>
                  <a:schemeClr val="bg1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rPr>
              <a:t> </a:t>
            </a:r>
            <a:r>
              <a:rPr kumimoji="1" lang="en-US" altLang="zh-CN" sz="2600" b="1" dirty="0">
                <a:solidFill>
                  <a:schemeClr val="bg1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rPr>
              <a:t>Gateway Proxy</a:t>
            </a:r>
            <a:endParaRPr kumimoji="1" lang="zh-CN" altLang="en-US" sz="2600" b="1" dirty="0">
              <a:solidFill>
                <a:schemeClr val="bg1"/>
              </a:solidFill>
              <a:latin typeface="Alibaba PuHuiTi M" pitchFamily="18" charset="-122"/>
              <a:ea typeface="Alibaba PuHuiTi M" pitchFamily="18" charset="-122"/>
              <a:cs typeface="Alibaba PuHuiTi M" pitchFamily="18" charset="-122"/>
            </a:endParaRPr>
          </a:p>
        </p:txBody>
      </p:sp>
      <p:sp>
        <p:nvSpPr>
          <p:cNvPr id="1048605" name="矩形 7"/>
          <p:cNvSpPr/>
          <p:nvPr/>
        </p:nvSpPr>
        <p:spPr>
          <a:xfrm>
            <a:off x="474186" y="776141"/>
            <a:ext cx="752690" cy="36000"/>
          </a:xfrm>
          <a:prstGeom prst="rect">
            <a:avLst/>
          </a:prstGeom>
          <a:solidFill>
            <a:srgbClr val="00F1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/>
              <a:t> </a:t>
            </a:r>
          </a:p>
        </p:txBody>
      </p:sp>
      <p:sp>
        <p:nvSpPr>
          <p:cNvPr id="1048606" name="矩形 8"/>
          <p:cNvSpPr/>
          <p:nvPr/>
        </p:nvSpPr>
        <p:spPr>
          <a:xfrm>
            <a:off x="474186" y="776140"/>
            <a:ext cx="11412000" cy="18000"/>
          </a:xfrm>
          <a:prstGeom prst="rect">
            <a:avLst/>
          </a:prstGeom>
          <a:solidFill>
            <a:srgbClr val="00F1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/>
              <a:t> 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89EA719-5627-8D6D-AB03-A0B239987467}"/>
              </a:ext>
            </a:extLst>
          </p:cNvPr>
          <p:cNvSpPr/>
          <p:nvPr/>
        </p:nvSpPr>
        <p:spPr>
          <a:xfrm>
            <a:off x="8368820" y="2883517"/>
            <a:ext cx="3351402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altLang="zh-CN" sz="2000" cap="none" spc="0" dirty="0">
                <a:ln w="0"/>
                <a:solidFill>
                  <a:schemeClr val="accent4">
                    <a:lumMod val="7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RBAC w/ Impersonation supported</a:t>
            </a:r>
            <a:endParaRPr lang="zh-CN" altLang="en-US" sz="2000" cap="none" spc="0" dirty="0">
              <a:ln w="0"/>
              <a:solidFill>
                <a:schemeClr val="accent4">
                  <a:lumMod val="75000"/>
                </a:schemeClr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3859263-1476-C999-567F-77FB67D9388F}"/>
              </a:ext>
            </a:extLst>
          </p:cNvPr>
          <p:cNvSpPr/>
          <p:nvPr/>
        </p:nvSpPr>
        <p:spPr>
          <a:xfrm>
            <a:off x="8368820" y="3829010"/>
            <a:ext cx="3395488" cy="40011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altLang="zh-CN" sz="2000" cap="none" spc="0" dirty="0">
                <a:ln w="0"/>
                <a:solidFill>
                  <a:srgbClr val="7030A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IAM for Access Control</a:t>
            </a:r>
            <a:endParaRPr lang="zh-CN" altLang="en-US" sz="2000" cap="none" spc="0" dirty="0">
              <a:ln w="0"/>
              <a:solidFill>
                <a:srgbClr val="7030A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F886CAB-FCDB-8310-4D8A-7C4FFEC46187}"/>
              </a:ext>
            </a:extLst>
          </p:cNvPr>
          <p:cNvSpPr/>
          <p:nvPr/>
        </p:nvSpPr>
        <p:spPr>
          <a:xfrm>
            <a:off x="8368820" y="1608083"/>
            <a:ext cx="3348994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2000" cap="none" spc="0" dirty="0">
                <a:ln w="0"/>
                <a:solidFill>
                  <a:schemeClr val="accent3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Register w/ K8s certificate</a:t>
            </a:r>
            <a:endParaRPr lang="zh-CN" altLang="en-US" sz="2000" cap="none" spc="0" dirty="0">
              <a:ln w="0"/>
              <a:solidFill>
                <a:schemeClr val="accent3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D551F6A-EE8D-F177-04D8-54F910DF8F6E}"/>
              </a:ext>
            </a:extLst>
          </p:cNvPr>
          <p:cNvSpPr/>
          <p:nvPr/>
        </p:nvSpPr>
        <p:spPr>
          <a:xfrm>
            <a:off x="8368820" y="2245800"/>
            <a:ext cx="2404824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200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High performance</a:t>
            </a:r>
            <a:endParaRPr lang="zh-CN" altLang="en-US" sz="2000" cap="none" spc="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D7AAD58F-8584-E370-29B9-74CB7B18B7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186" y="1251302"/>
            <a:ext cx="7542612" cy="4145557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2A5D8833-F4D1-D436-5BB3-856AA8B5F457}"/>
              </a:ext>
            </a:extLst>
          </p:cNvPr>
          <p:cNvSpPr txBox="1"/>
          <p:nvPr/>
        </p:nvSpPr>
        <p:spPr>
          <a:xfrm>
            <a:off x="410285" y="5496590"/>
            <a:ext cx="1124538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600" b="1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Registration</a:t>
            </a:r>
            <a:r>
              <a:rPr kumimoji="1" lang="en-US" altLang="zh-CN" sz="16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: SREs by providing the KubeConfig. The gateway stores them as Cluster CR.</a:t>
            </a:r>
          </a:p>
          <a:p>
            <a:r>
              <a:rPr kumimoji="1" lang="en-US" altLang="zh-CN" sz="1600" b="1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Usage</a:t>
            </a:r>
            <a:r>
              <a:rPr kumimoji="1" lang="en-US" altLang="zh-CN" sz="16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: Direct multi-cluster traffic by sending them to the /proxy endpoint on the gateway. </a:t>
            </a:r>
          </a:p>
          <a:p>
            <a:r>
              <a:rPr kumimoji="1" lang="en-US" altLang="zh-CN" sz="1600" b="1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Example</a:t>
            </a:r>
            <a:r>
              <a:rPr kumimoji="1" lang="en-US" altLang="zh-CN" sz="16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: </a:t>
            </a:r>
            <a:r>
              <a:rPr lang="en-US" altLang="zh-CN" sz="1600" dirty="0">
                <a:solidFill>
                  <a:srgbClr val="25272A"/>
                </a:solidFill>
                <a:effectLst/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GET /</a:t>
            </a:r>
            <a:r>
              <a:rPr lang="en-US" altLang="zh-CN" sz="1600" dirty="0" err="1">
                <a:solidFill>
                  <a:srgbClr val="25272A"/>
                </a:solidFill>
                <a:effectLst/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apis</a:t>
            </a:r>
            <a:r>
              <a:rPr lang="en-US" altLang="zh-CN" sz="1600" dirty="0">
                <a:solidFill>
                  <a:srgbClr val="25272A"/>
                </a:solidFill>
                <a:effectLst/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/</a:t>
            </a:r>
            <a:r>
              <a:rPr lang="en-US" altLang="zh-CN" sz="1600" dirty="0" err="1">
                <a:solidFill>
                  <a:srgbClr val="25272A"/>
                </a:solidFill>
                <a:effectLst/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cluster.addon.open</a:t>
            </a:r>
            <a:r>
              <a:rPr lang="en-US" altLang="zh-CN" sz="1600" dirty="0">
                <a:solidFill>
                  <a:srgbClr val="25272A"/>
                </a:solidFill>
                <a:effectLst/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-cluster-</a:t>
            </a:r>
            <a:r>
              <a:rPr lang="en-US" altLang="zh-CN" sz="1600" dirty="0" err="1">
                <a:solidFill>
                  <a:srgbClr val="25272A"/>
                </a:solidFill>
                <a:effectLst/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management.io</a:t>
            </a:r>
            <a:r>
              <a:rPr lang="en-US" altLang="zh-CN" sz="1600" dirty="0">
                <a:solidFill>
                  <a:srgbClr val="25272A"/>
                </a:solidFill>
                <a:effectLst/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/</a:t>
            </a:r>
            <a:r>
              <a:rPr lang="en-US" altLang="zh-CN" sz="1600" dirty="0" err="1">
                <a:solidFill>
                  <a:srgbClr val="25272A"/>
                </a:solidFill>
                <a:effectLst/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clusterextensions</a:t>
            </a:r>
            <a:r>
              <a:rPr lang="en-US" altLang="zh-CN" sz="1600" dirty="0">
                <a:solidFill>
                  <a:srgbClr val="25272A"/>
                </a:solidFill>
                <a:effectLst/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/{cluster1}/proxy/</a:t>
            </a:r>
            <a:r>
              <a:rPr lang="en-US" altLang="zh-CN" sz="1600" dirty="0" err="1">
                <a:solidFill>
                  <a:srgbClr val="25272A"/>
                </a:solidFill>
                <a:effectLst/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api</a:t>
            </a:r>
            <a:r>
              <a:rPr lang="en-US" altLang="zh-CN" sz="1600" dirty="0">
                <a:solidFill>
                  <a:srgbClr val="25272A"/>
                </a:solidFill>
                <a:effectLst/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/v1/pods</a:t>
            </a:r>
            <a:endParaRPr kumimoji="1" lang="zh-CN" altLang="en-US" sz="1600" dirty="0"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BFBB24E8-F2F1-C303-CEAB-7E49811C173E}"/>
              </a:ext>
            </a:extLst>
          </p:cNvPr>
          <p:cNvSpPr/>
          <p:nvPr/>
        </p:nvSpPr>
        <p:spPr>
          <a:xfrm>
            <a:off x="8368820" y="4466727"/>
            <a:ext cx="2650084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2000" cap="none" spc="0" dirty="0">
                <a:ln w="0"/>
                <a:solidFill>
                  <a:srgbClr val="7030A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K8s-native Requests</a:t>
            </a:r>
            <a:endParaRPr lang="zh-CN" altLang="en-US" sz="2000" cap="none" spc="0" dirty="0">
              <a:ln w="0"/>
              <a:solidFill>
                <a:srgbClr val="7030A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469532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4" name="文本框 6"/>
          <p:cNvSpPr txBox="1"/>
          <p:nvPr/>
        </p:nvSpPr>
        <p:spPr>
          <a:xfrm>
            <a:off x="385764" y="171805"/>
            <a:ext cx="5903524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600" b="1" dirty="0">
                <a:solidFill>
                  <a:schemeClr val="bg1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rPr>
              <a:t>Data Synchronization and Insights</a:t>
            </a:r>
            <a:endParaRPr kumimoji="1" lang="zh-CN" altLang="en-US" sz="2600" b="1" dirty="0">
              <a:solidFill>
                <a:schemeClr val="bg1"/>
              </a:solidFill>
              <a:latin typeface="Alibaba PuHuiTi M" pitchFamily="18" charset="-122"/>
              <a:ea typeface="Alibaba PuHuiTi M" pitchFamily="18" charset="-122"/>
              <a:cs typeface="Alibaba PuHuiTi M" pitchFamily="18" charset="-122"/>
            </a:endParaRPr>
          </a:p>
        </p:txBody>
      </p:sp>
      <p:sp>
        <p:nvSpPr>
          <p:cNvPr id="1048605" name="矩形 7"/>
          <p:cNvSpPr/>
          <p:nvPr/>
        </p:nvSpPr>
        <p:spPr>
          <a:xfrm>
            <a:off x="474186" y="776141"/>
            <a:ext cx="752690" cy="36000"/>
          </a:xfrm>
          <a:prstGeom prst="rect">
            <a:avLst/>
          </a:prstGeom>
          <a:solidFill>
            <a:srgbClr val="00F1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/>
              <a:t> </a:t>
            </a:r>
          </a:p>
        </p:txBody>
      </p:sp>
      <p:sp>
        <p:nvSpPr>
          <p:cNvPr id="1048606" name="矩形 8"/>
          <p:cNvSpPr/>
          <p:nvPr/>
        </p:nvSpPr>
        <p:spPr>
          <a:xfrm>
            <a:off x="474186" y="776140"/>
            <a:ext cx="11412000" cy="18000"/>
          </a:xfrm>
          <a:prstGeom prst="rect">
            <a:avLst/>
          </a:prstGeom>
          <a:solidFill>
            <a:srgbClr val="00F1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/>
              <a:t> 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A8CB542-9AFD-BCD6-5C45-E7435EAAFC23}"/>
              </a:ext>
            </a:extLst>
          </p:cNvPr>
          <p:cNvSpPr/>
          <p:nvPr/>
        </p:nvSpPr>
        <p:spPr>
          <a:xfrm>
            <a:off x="8686216" y="1300697"/>
            <a:ext cx="1842171" cy="189660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cap="none" spc="0" dirty="0">
                <a:ln w="0"/>
                <a:solidFill>
                  <a:schemeClr val="accent3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Search with...</a:t>
            </a:r>
          </a:p>
          <a:p>
            <a:pPr>
              <a:lnSpc>
                <a:spcPct val="150000"/>
              </a:lnSpc>
            </a:pPr>
            <a:r>
              <a:rPr lang="zh-CN" altLang="en-US" sz="2000" cap="none" spc="0" dirty="0">
                <a:ln w="0"/>
                <a:solidFill>
                  <a:schemeClr val="accent3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🥝 </a:t>
            </a:r>
            <a:r>
              <a:rPr lang="en-US" altLang="zh-CN" sz="2000" cap="none" spc="0" dirty="0">
                <a:ln w="0"/>
                <a:solidFill>
                  <a:schemeClr val="accent3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KEY</a:t>
            </a:r>
          </a:p>
          <a:p>
            <a:pPr>
              <a:lnSpc>
                <a:spcPct val="150000"/>
              </a:lnSpc>
            </a:pPr>
            <a:r>
              <a:rPr lang="zh-CN" altLang="en-US" sz="2000" cap="none" spc="0" dirty="0">
                <a:ln w="0"/>
                <a:solidFill>
                  <a:schemeClr val="accent3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🎂 </a:t>
            </a:r>
            <a:r>
              <a:rPr lang="en-US" altLang="zh-CN" sz="2000" cap="none" spc="0" dirty="0">
                <a:ln w="0"/>
                <a:solidFill>
                  <a:schemeClr val="accent3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SQL</a:t>
            </a:r>
          </a:p>
          <a:p>
            <a:pPr>
              <a:lnSpc>
                <a:spcPct val="150000"/>
              </a:lnSpc>
            </a:pPr>
            <a:r>
              <a:rPr lang="zh-CN" altLang="en-US" sz="2000" cap="none" spc="0" dirty="0">
                <a:ln w="0"/>
                <a:solidFill>
                  <a:schemeClr val="accent3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🐥 </a:t>
            </a:r>
            <a:r>
              <a:rPr lang="en-US" altLang="zh-CN" sz="2000" cap="none" spc="0" dirty="0">
                <a:ln w="0"/>
                <a:solidFill>
                  <a:schemeClr val="accent3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NLP</a:t>
            </a:r>
            <a:r>
              <a:rPr lang="zh-CN" altLang="en-US" sz="2000" cap="none" spc="0" dirty="0">
                <a:ln w="0"/>
                <a:solidFill>
                  <a:schemeClr val="accent3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 </a:t>
            </a:r>
            <a:endParaRPr lang="en-US" altLang="zh-CN" sz="2000" cap="none" spc="0" dirty="0">
              <a:ln w="0"/>
              <a:solidFill>
                <a:schemeClr val="accent3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B18D95C-58EB-8714-E37B-4C13EC6CF7EF}"/>
              </a:ext>
            </a:extLst>
          </p:cNvPr>
          <p:cNvSpPr/>
          <p:nvPr/>
        </p:nvSpPr>
        <p:spPr>
          <a:xfrm>
            <a:off x="8686216" y="3416426"/>
            <a:ext cx="3031598" cy="189660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Insights on...</a:t>
            </a:r>
          </a:p>
          <a:p>
            <a:pPr>
              <a:lnSpc>
                <a:spcPct val="150000"/>
              </a:lnSpc>
            </a:pPr>
            <a:r>
              <a:rPr lang="zh-CN" altLang="en-US" sz="20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🌿 </a:t>
            </a:r>
            <a:r>
              <a:rPr lang="en-US" altLang="zh-CN" sz="20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Compliance Reports</a:t>
            </a:r>
          </a:p>
          <a:p>
            <a:pPr>
              <a:lnSpc>
                <a:spcPct val="150000"/>
              </a:lnSpc>
            </a:pPr>
            <a:r>
              <a:rPr lang="zh-CN" altLang="en-US" sz="20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🐬 </a:t>
            </a:r>
            <a:r>
              <a:rPr lang="en-US" altLang="zh-CN" sz="20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Event Timelines</a:t>
            </a:r>
            <a:endParaRPr lang="en-US" altLang="zh-CN" sz="2000" cap="none" spc="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🦋 </a:t>
            </a:r>
            <a:r>
              <a:rPr lang="en-US" altLang="zh-CN" sz="200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Resource Topologies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0755A624-D871-B01E-516F-0925FC944E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186" y="1095854"/>
            <a:ext cx="7772400" cy="4684258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E147E52B-B0E7-6B59-B358-F097D47D51B8}"/>
              </a:ext>
            </a:extLst>
          </p:cNvPr>
          <p:cNvSpPr txBox="1"/>
          <p:nvPr/>
        </p:nvSpPr>
        <p:spPr>
          <a:xfrm>
            <a:off x="474186" y="5897382"/>
            <a:ext cx="945689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600" b="1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Sync</a:t>
            </a:r>
            <a:r>
              <a:rPr kumimoji="1" lang="en-US" altLang="zh-CN" sz="16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: Data Synchronization based on SyncRule and Cluster CRs</a:t>
            </a:r>
          </a:p>
          <a:p>
            <a:r>
              <a:rPr kumimoji="1" lang="en-US" altLang="zh-CN" sz="1600" b="1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Consume</a:t>
            </a:r>
            <a:r>
              <a:rPr kumimoji="1" lang="en-US" altLang="zh-CN" sz="16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: Apps and Users perform search and get insights via the APIServer and Dashboard</a:t>
            </a:r>
            <a:endParaRPr kumimoji="1" lang="zh-CN" altLang="en-US" sz="1600" dirty="0"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694470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4" name="文本框 6"/>
          <p:cNvSpPr txBox="1"/>
          <p:nvPr/>
        </p:nvSpPr>
        <p:spPr>
          <a:xfrm>
            <a:off x="385763" y="171805"/>
            <a:ext cx="6243637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600" b="1" dirty="0">
                <a:solidFill>
                  <a:schemeClr val="bg1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rPr>
              <a:t>AI</a:t>
            </a:r>
            <a:r>
              <a:rPr kumimoji="1" lang="zh-CN" altLang="en-US" sz="2600" b="1" dirty="0">
                <a:solidFill>
                  <a:schemeClr val="bg1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rPr>
              <a:t> </a:t>
            </a:r>
            <a:r>
              <a:rPr kumimoji="1" lang="en-US" altLang="zh-CN" sz="2600" b="1" dirty="0">
                <a:solidFill>
                  <a:schemeClr val="bg1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rPr>
              <a:t>For</a:t>
            </a:r>
            <a:r>
              <a:rPr kumimoji="1" lang="zh-CN" altLang="en-US" sz="2600" b="1" dirty="0">
                <a:solidFill>
                  <a:schemeClr val="bg1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rPr>
              <a:t> </a:t>
            </a:r>
            <a:r>
              <a:rPr kumimoji="1" lang="en-US" altLang="zh-CN" sz="2600" b="1" dirty="0">
                <a:solidFill>
                  <a:schemeClr val="bg1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rPr>
              <a:t>Kubernetes</a:t>
            </a:r>
            <a:endParaRPr kumimoji="1" lang="zh-CN" altLang="en-US" sz="2600" b="1" dirty="0">
              <a:solidFill>
                <a:schemeClr val="bg1"/>
              </a:solidFill>
              <a:latin typeface="Alibaba PuHuiTi M" pitchFamily="18" charset="-122"/>
              <a:ea typeface="Alibaba PuHuiTi M" pitchFamily="18" charset="-122"/>
              <a:cs typeface="Alibaba PuHuiTi M" pitchFamily="18" charset="-122"/>
            </a:endParaRPr>
          </a:p>
        </p:txBody>
      </p:sp>
      <p:sp>
        <p:nvSpPr>
          <p:cNvPr id="1048605" name="矩形 7"/>
          <p:cNvSpPr/>
          <p:nvPr/>
        </p:nvSpPr>
        <p:spPr>
          <a:xfrm>
            <a:off x="474186" y="776141"/>
            <a:ext cx="752690" cy="36000"/>
          </a:xfrm>
          <a:prstGeom prst="rect">
            <a:avLst/>
          </a:prstGeom>
          <a:solidFill>
            <a:srgbClr val="00F1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/>
              <a:t> </a:t>
            </a:r>
          </a:p>
        </p:txBody>
      </p:sp>
      <p:sp>
        <p:nvSpPr>
          <p:cNvPr id="1048606" name="矩形 8"/>
          <p:cNvSpPr/>
          <p:nvPr/>
        </p:nvSpPr>
        <p:spPr>
          <a:xfrm>
            <a:off x="474186" y="776140"/>
            <a:ext cx="11412000" cy="18000"/>
          </a:xfrm>
          <a:prstGeom prst="rect">
            <a:avLst/>
          </a:prstGeom>
          <a:solidFill>
            <a:srgbClr val="00F1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/>
              <a:t> 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00C9705B-BD1D-CD0C-F748-B0CA52AA14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6814" y="1456055"/>
            <a:ext cx="5334203" cy="4167584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AA778DBB-6933-729A-98C1-744D179BDF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5866" y="1456055"/>
            <a:ext cx="5334203" cy="4167584"/>
          </a:xfrm>
          <a:prstGeom prst="rect">
            <a:avLst/>
          </a:prstGeom>
        </p:spPr>
      </p:pic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DFC49A3-5F34-A0C5-E309-C4A27EBCA175}"/>
              </a:ext>
            </a:extLst>
          </p:cNvPr>
          <p:cNvSpPr txBox="1">
            <a:spLocks/>
          </p:cNvSpPr>
          <p:nvPr/>
        </p:nvSpPr>
        <p:spPr>
          <a:xfrm>
            <a:off x="1322419" y="5770138"/>
            <a:ext cx="3702992" cy="774835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kumimoji="1" lang="en-US" altLang="zh-CN" sz="18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Convert Input to search query</a:t>
            </a:r>
          </a:p>
          <a:p>
            <a:pPr marL="0" indent="0" algn="ctr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kumimoji="1" lang="en-US" altLang="zh-CN" sz="18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Search with NL</a:t>
            </a:r>
          </a:p>
        </p:txBody>
      </p:sp>
      <p:sp>
        <p:nvSpPr>
          <p:cNvPr id="5" name="内容占位符 3">
            <a:extLst>
              <a:ext uri="{FF2B5EF4-FFF2-40B4-BE49-F238E27FC236}">
                <a16:creationId xmlns:a16="http://schemas.microsoft.com/office/drawing/2014/main" id="{B0D93D5B-5F84-2667-661C-F66A870A7F0B}"/>
              </a:ext>
            </a:extLst>
          </p:cNvPr>
          <p:cNvSpPr txBox="1">
            <a:spLocks/>
          </p:cNvSpPr>
          <p:nvPr/>
        </p:nvSpPr>
        <p:spPr>
          <a:xfrm>
            <a:off x="6463307" y="5770138"/>
            <a:ext cx="5259320" cy="8456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bg1">
                    <a:lumMod val="95000"/>
                    <a:lumOff val="5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600" kern="1200">
                <a:solidFill>
                  <a:schemeClr val="bg1">
                    <a:lumMod val="95000"/>
                    <a:lumOff val="5000"/>
                  </a:schemeClr>
                </a:solidFill>
                <a:latin typeface="+mn-ea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400" kern="1200">
                <a:solidFill>
                  <a:schemeClr val="bg1">
                    <a:lumMod val="95000"/>
                    <a:lumOff val="5000"/>
                  </a:schemeClr>
                </a:solidFill>
                <a:latin typeface="+mn-ea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200" kern="1200">
                <a:solidFill>
                  <a:schemeClr val="bg1">
                    <a:lumMod val="95000"/>
                    <a:lumOff val="5000"/>
                  </a:schemeClr>
                </a:solidFill>
                <a:latin typeface="+mn-ea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200" kern="1200">
                <a:solidFill>
                  <a:schemeClr val="bg1">
                    <a:lumMod val="95000"/>
                    <a:lumOff val="5000"/>
                  </a:schemeClr>
                </a:solidFill>
                <a:latin typeface="+mn-ea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Font typeface="Arial" panose="020B0604020202090204" pitchFamily="34" charset="0"/>
              <a:buNone/>
            </a:pPr>
            <a:r>
              <a:rPr kumimoji="1" lang="en-US" altLang="zh-CN" dirty="0">
                <a:solidFill>
                  <a:schemeClr val="tx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Use LLM to Analyze YAMLs/logs/events</a:t>
            </a:r>
          </a:p>
          <a:p>
            <a:pPr marL="0" indent="0" algn="ctr">
              <a:lnSpc>
                <a:spcPct val="100000"/>
              </a:lnSpc>
              <a:buNone/>
            </a:pPr>
            <a:r>
              <a:rPr kumimoji="1" lang="en-US" altLang="zh-CN" dirty="0">
                <a:solidFill>
                  <a:schemeClr val="tx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Identify Issues early and generate fixes</a:t>
            </a:r>
          </a:p>
          <a:p>
            <a:pPr marL="0" indent="0" algn="ctr">
              <a:lnSpc>
                <a:spcPct val="100000"/>
              </a:lnSpc>
              <a:buFont typeface="Arial" panose="020B0604020202090204" pitchFamily="34" charset="0"/>
              <a:buNone/>
            </a:pPr>
            <a:endParaRPr kumimoji="1" lang="en-US" altLang="zh-CN" dirty="0">
              <a:solidFill>
                <a:schemeClr val="tx1"/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033027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4" name="文本框 6"/>
          <p:cNvSpPr txBox="1"/>
          <p:nvPr/>
        </p:nvSpPr>
        <p:spPr>
          <a:xfrm>
            <a:off x="385763" y="171805"/>
            <a:ext cx="3827422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600" b="1" dirty="0">
                <a:solidFill>
                  <a:schemeClr val="bg1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rPr>
              <a:t>Karpor is all you need</a:t>
            </a:r>
            <a:endParaRPr kumimoji="1" lang="zh-CN" altLang="en-US" sz="2600" b="1" dirty="0">
              <a:solidFill>
                <a:schemeClr val="bg1"/>
              </a:solidFill>
              <a:latin typeface="Alibaba PuHuiTi M" pitchFamily="18" charset="-122"/>
              <a:ea typeface="Alibaba PuHuiTi M" pitchFamily="18" charset="-122"/>
              <a:cs typeface="Alibaba PuHuiTi M" pitchFamily="18" charset="-122"/>
            </a:endParaRPr>
          </a:p>
        </p:txBody>
      </p:sp>
      <p:sp>
        <p:nvSpPr>
          <p:cNvPr id="1048605" name="矩形 7"/>
          <p:cNvSpPr/>
          <p:nvPr/>
        </p:nvSpPr>
        <p:spPr>
          <a:xfrm>
            <a:off x="474186" y="776141"/>
            <a:ext cx="752690" cy="36000"/>
          </a:xfrm>
          <a:prstGeom prst="rect">
            <a:avLst/>
          </a:prstGeom>
          <a:solidFill>
            <a:srgbClr val="00F1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/>
              <a:t> </a:t>
            </a:r>
          </a:p>
        </p:txBody>
      </p:sp>
      <p:sp>
        <p:nvSpPr>
          <p:cNvPr id="1048606" name="矩形 8"/>
          <p:cNvSpPr/>
          <p:nvPr/>
        </p:nvSpPr>
        <p:spPr>
          <a:xfrm>
            <a:off x="474186" y="776140"/>
            <a:ext cx="11412000" cy="18000"/>
          </a:xfrm>
          <a:prstGeom prst="rect">
            <a:avLst/>
          </a:prstGeom>
          <a:solidFill>
            <a:srgbClr val="00F1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/>
              <a:t> 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4F678557-28DB-F9D1-E6E4-419B6E1D79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185" y="1303836"/>
            <a:ext cx="9364295" cy="4395995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C2B3440B-AF52-AA4D-5D06-E6803D33A058}"/>
              </a:ext>
            </a:extLst>
          </p:cNvPr>
          <p:cNvSpPr/>
          <p:nvPr/>
        </p:nvSpPr>
        <p:spPr>
          <a:xfrm>
            <a:off x="2406220" y="5727917"/>
            <a:ext cx="5500224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400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Karpor</a:t>
            </a:r>
            <a:r>
              <a:rPr lang="zh-CN" altLang="en-US" sz="400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 </a:t>
            </a:r>
            <a:r>
              <a:rPr lang="en-US" altLang="zh-CN" sz="400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is all you need</a:t>
            </a:r>
            <a:endParaRPr lang="zh-CN" altLang="en-US" sz="4000" cap="none" spc="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31F8998-054F-769D-6190-686A565505EF}"/>
              </a:ext>
            </a:extLst>
          </p:cNvPr>
          <p:cNvSpPr/>
          <p:nvPr/>
        </p:nvSpPr>
        <p:spPr>
          <a:xfrm>
            <a:off x="10249143" y="2205031"/>
            <a:ext cx="1468672" cy="492443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2600" cap="none" spc="0" dirty="0">
                <a:ln w="0"/>
                <a:solidFill>
                  <a:srgbClr val="7030A0"/>
                </a:solidFill>
                <a:effectLst>
                  <a:reflection blurRad="6350" stA="53000" endA="300" endPos="35500" dir="5400000" sy="-90000" algn="bl" rotWithShape="0"/>
                </a:effectLst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Reliable</a:t>
            </a:r>
            <a:endParaRPr lang="zh-CN" altLang="en-US" sz="2600" cap="none" spc="0" dirty="0">
              <a:ln w="0"/>
              <a:solidFill>
                <a:srgbClr val="7030A0"/>
              </a:solidFill>
              <a:effectLst>
                <a:reflection blurRad="6350" stA="53000" endA="300" endPos="35500" dir="5400000" sy="-90000" algn="bl" rotWithShape="0"/>
              </a:effectLst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3AC0590-E18C-5868-5EA2-07FCF792F47B}"/>
              </a:ext>
            </a:extLst>
          </p:cNvPr>
          <p:cNvSpPr/>
          <p:nvPr/>
        </p:nvSpPr>
        <p:spPr>
          <a:xfrm>
            <a:off x="10088844" y="3168417"/>
            <a:ext cx="1789272" cy="492443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2600" cap="none" spc="0" dirty="0">
                <a:ln w="0"/>
                <a:solidFill>
                  <a:schemeClr val="accent3"/>
                </a:solidFill>
                <a:effectLst>
                  <a:reflection blurRad="6350" stA="53000" endA="300" endPos="35500" dir="5400000" sy="-90000" algn="bl" rotWithShape="0"/>
                </a:effectLst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Intelligent</a:t>
            </a:r>
            <a:endParaRPr lang="zh-CN" altLang="en-US" sz="2600" cap="none" spc="0" dirty="0">
              <a:ln w="0"/>
              <a:solidFill>
                <a:schemeClr val="accent3"/>
              </a:solidFill>
              <a:effectLst>
                <a:reflection blurRad="6350" stA="53000" endA="300" endPos="35500" dir="5400000" sy="-90000" algn="bl" rotWithShape="0"/>
              </a:effectLst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30223D6-DDF8-BC99-6F7D-274F5B3E3B2A}"/>
              </a:ext>
            </a:extLst>
          </p:cNvPr>
          <p:cNvSpPr/>
          <p:nvPr/>
        </p:nvSpPr>
        <p:spPr>
          <a:xfrm>
            <a:off x="10355740" y="4235629"/>
            <a:ext cx="1255473" cy="492443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2600" cap="none" spc="0" dirty="0">
                <a:ln w="0"/>
                <a:effectLst>
                  <a:reflection blurRad="6350" stA="53000" endA="300" endPos="35500" dir="5400000" sy="-90000" algn="bl" rotWithShape="0"/>
                </a:effectLst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Secure</a:t>
            </a:r>
            <a:endParaRPr lang="zh-CN" altLang="en-US" sz="2600" cap="none" spc="0" dirty="0">
              <a:ln w="0"/>
              <a:effectLst>
                <a:reflection blurRad="6350" stA="53000" endA="300" endPos="35500" dir="5400000" sy="-90000" algn="bl" rotWithShape="0"/>
              </a:effectLst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069522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748F5EB1-726E-8717-EA0C-1569AF81CF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8241" y="1007064"/>
            <a:ext cx="6391652" cy="56791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C14FC1D2-985C-490E-9DE1-AC816C1C9231}"/>
              </a:ext>
            </a:extLst>
          </p:cNvPr>
          <p:cNvSpPr/>
          <p:nvPr/>
        </p:nvSpPr>
        <p:spPr>
          <a:xfrm>
            <a:off x="8511080" y="1884763"/>
            <a:ext cx="3050835" cy="308847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sz="2000" cap="none" spc="0" dirty="0">
                <a:ln w="0"/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Components:</a:t>
            </a:r>
          </a:p>
          <a:p>
            <a:pPr>
              <a:lnSpc>
                <a:spcPct val="200000"/>
              </a:lnSpc>
            </a:pPr>
            <a:r>
              <a:rPr lang="en-US" altLang="zh-CN" sz="2000" dirty="0">
                <a:ln w="0"/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-</a:t>
            </a:r>
            <a:r>
              <a:rPr lang="zh-CN" altLang="en-US" sz="2000" dirty="0">
                <a:ln w="0"/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 </a:t>
            </a:r>
            <a:r>
              <a:rPr lang="en-US" altLang="zh-CN" sz="2000" dirty="0">
                <a:ln w="0"/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Dashboard</a:t>
            </a:r>
          </a:p>
          <a:p>
            <a:pPr>
              <a:lnSpc>
                <a:spcPct val="200000"/>
              </a:lnSpc>
            </a:pPr>
            <a:r>
              <a:rPr lang="en-US" altLang="zh-CN" sz="2000" cap="none" spc="0" dirty="0">
                <a:ln w="0"/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-</a:t>
            </a:r>
            <a:r>
              <a:rPr lang="zh-CN" altLang="en-US" sz="2000" cap="none" spc="0" dirty="0">
                <a:ln w="0"/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 </a:t>
            </a:r>
            <a:r>
              <a:rPr lang="en-US" altLang="zh-CN" sz="2000" cap="none" spc="0" dirty="0">
                <a:ln w="0"/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Aggregated</a:t>
            </a:r>
            <a:r>
              <a:rPr lang="zh-CN" altLang="en-US" sz="2000" cap="none" spc="0" dirty="0">
                <a:ln w="0"/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 </a:t>
            </a:r>
            <a:r>
              <a:rPr lang="en-US" altLang="zh-CN" sz="2000" cap="none" spc="0" dirty="0">
                <a:ln w="0"/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APIServer</a:t>
            </a:r>
          </a:p>
          <a:p>
            <a:pPr>
              <a:lnSpc>
                <a:spcPct val="200000"/>
              </a:lnSpc>
            </a:pPr>
            <a:r>
              <a:rPr lang="en-US" altLang="zh-CN" sz="2000" dirty="0">
                <a:ln w="0"/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-</a:t>
            </a:r>
            <a:r>
              <a:rPr lang="zh-CN" altLang="en-US" sz="2000" dirty="0">
                <a:ln w="0"/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 </a:t>
            </a:r>
            <a:r>
              <a:rPr lang="en-US" altLang="zh-CN" sz="2000" dirty="0">
                <a:ln w="0"/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Syncer</a:t>
            </a:r>
          </a:p>
          <a:p>
            <a:pPr>
              <a:lnSpc>
                <a:spcPct val="200000"/>
              </a:lnSpc>
            </a:pPr>
            <a:r>
              <a:rPr lang="en-US" altLang="zh-CN" sz="2000" cap="none" spc="0" dirty="0">
                <a:ln w="0"/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-</a:t>
            </a:r>
            <a:r>
              <a:rPr lang="zh-CN" altLang="en-US" sz="2000" cap="none" spc="0" dirty="0">
                <a:ln w="0"/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 </a:t>
            </a:r>
            <a:r>
              <a:rPr lang="en-US" altLang="zh-CN" sz="2000" cap="none" spc="0" dirty="0">
                <a:ln w="0"/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Storage Adapter</a:t>
            </a:r>
          </a:p>
        </p:txBody>
      </p:sp>
      <p:sp>
        <p:nvSpPr>
          <p:cNvPr id="3" name="文本框 3">
            <a:extLst>
              <a:ext uri="{FF2B5EF4-FFF2-40B4-BE49-F238E27FC236}">
                <a16:creationId xmlns:a16="http://schemas.microsoft.com/office/drawing/2014/main" id="{63AE4F7B-FC1A-8448-E963-4CD883C5CCF3}"/>
              </a:ext>
            </a:extLst>
          </p:cNvPr>
          <p:cNvSpPr txBox="1"/>
          <p:nvPr/>
        </p:nvSpPr>
        <p:spPr>
          <a:xfrm>
            <a:off x="385763" y="171805"/>
            <a:ext cx="6802116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600" b="1" dirty="0">
                <a:solidFill>
                  <a:schemeClr val="bg1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rPr>
              <a:t>Architecture Overview</a:t>
            </a:r>
            <a:endParaRPr kumimoji="1" lang="zh-CN" altLang="en-US" sz="2600" b="1" dirty="0">
              <a:solidFill>
                <a:schemeClr val="bg1"/>
              </a:solidFill>
              <a:latin typeface="Alibaba PuHuiTi M" pitchFamily="18" charset="-122"/>
              <a:ea typeface="Alibaba PuHuiTi M" pitchFamily="18" charset="-122"/>
              <a:cs typeface="Alibaba PuHuiTi M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465707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1" name="文本框 3"/>
          <p:cNvSpPr txBox="1"/>
          <p:nvPr/>
        </p:nvSpPr>
        <p:spPr>
          <a:xfrm>
            <a:off x="385763" y="171805"/>
            <a:ext cx="6802116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600" b="1" dirty="0">
                <a:solidFill>
                  <a:schemeClr val="bg1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rPr>
              <a:t>Search-focused: Kubernetes Dashboard</a:t>
            </a:r>
            <a:endParaRPr kumimoji="1" lang="zh-CN" altLang="en-US" sz="2600" b="1" dirty="0">
              <a:solidFill>
                <a:schemeClr val="bg1"/>
              </a:solidFill>
              <a:latin typeface="Alibaba PuHuiTi M" pitchFamily="18" charset="-122"/>
              <a:ea typeface="Alibaba PuHuiTi M" pitchFamily="18" charset="-122"/>
              <a:cs typeface="Alibaba PuHuiTi M" pitchFamily="18" charset="-122"/>
            </a:endParaRPr>
          </a:p>
        </p:txBody>
      </p:sp>
      <p:sp>
        <p:nvSpPr>
          <p:cNvPr id="1048602" name="矩形 4"/>
          <p:cNvSpPr/>
          <p:nvPr/>
        </p:nvSpPr>
        <p:spPr>
          <a:xfrm>
            <a:off x="474186" y="776141"/>
            <a:ext cx="752690" cy="36000"/>
          </a:xfrm>
          <a:prstGeom prst="rect">
            <a:avLst/>
          </a:prstGeom>
          <a:solidFill>
            <a:srgbClr val="00F1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/>
              <a:t> </a:t>
            </a:r>
          </a:p>
        </p:txBody>
      </p:sp>
      <p:sp>
        <p:nvSpPr>
          <p:cNvPr id="1048603" name="矩形 6"/>
          <p:cNvSpPr/>
          <p:nvPr/>
        </p:nvSpPr>
        <p:spPr>
          <a:xfrm>
            <a:off x="474186" y="776140"/>
            <a:ext cx="11412000" cy="18000"/>
          </a:xfrm>
          <a:prstGeom prst="rect">
            <a:avLst/>
          </a:prstGeom>
          <a:solidFill>
            <a:srgbClr val="00F1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/>
              <a:t> </a:t>
            </a:r>
          </a:p>
        </p:txBody>
      </p:sp>
      <p:sp>
        <p:nvSpPr>
          <p:cNvPr id="7" name="内容占位符 4">
            <a:extLst>
              <a:ext uri="{FF2B5EF4-FFF2-40B4-BE49-F238E27FC236}">
                <a16:creationId xmlns:a16="http://schemas.microsoft.com/office/drawing/2014/main" id="{33F031E7-5649-3845-8149-AE96B45A2384}"/>
              </a:ext>
            </a:extLst>
          </p:cNvPr>
          <p:cNvSpPr txBox="1">
            <a:spLocks/>
          </p:cNvSpPr>
          <p:nvPr/>
        </p:nvSpPr>
        <p:spPr>
          <a:xfrm>
            <a:off x="2904088" y="991656"/>
            <a:ext cx="6552196" cy="477773"/>
          </a:xfrm>
          <a:prstGeom prst="rect">
            <a:avLst/>
          </a:prstGeom>
        </p:spPr>
        <p:txBody>
          <a:bodyPr anchor="ctr">
            <a:normAutofit fontScale="6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kumimoji="1" lang="en-US" altLang="zh-CN" dirty="0">
                <a:solidFill>
                  <a:schemeClr val="bg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Search with Keywords or SQL, optimized for Kubernetes</a:t>
            </a:r>
          </a:p>
        </p:txBody>
      </p:sp>
      <p:pic>
        <p:nvPicPr>
          <p:cNvPr id="8" name="search">
            <a:hlinkClick r:id="" action="ppaction://media"/>
            <a:extLst>
              <a:ext uri="{FF2B5EF4-FFF2-40B4-BE49-F238E27FC236}">
                <a16:creationId xmlns:a16="http://schemas.microsoft.com/office/drawing/2014/main" id="{3510E34B-DDC6-510D-2023-8210DF6F3FEF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256009" y="1597024"/>
            <a:ext cx="7667281" cy="500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7570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500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  <p:video>
              <p:cMediaNode vol="80000">
                <p:cTn id="12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1" name="文本框 3"/>
          <p:cNvSpPr txBox="1"/>
          <p:nvPr/>
        </p:nvSpPr>
        <p:spPr>
          <a:xfrm>
            <a:off x="385762" y="171805"/>
            <a:ext cx="6929437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600" b="1" dirty="0">
                <a:solidFill>
                  <a:schemeClr val="bg1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rPr>
              <a:t>Search-focused: Kubernetes Dashboard</a:t>
            </a:r>
            <a:endParaRPr kumimoji="1" lang="zh-CN" altLang="en-US" sz="2600" b="1" dirty="0">
              <a:solidFill>
                <a:schemeClr val="bg1"/>
              </a:solidFill>
              <a:latin typeface="Alibaba PuHuiTi M" pitchFamily="18" charset="-122"/>
              <a:ea typeface="Alibaba PuHuiTi M" pitchFamily="18" charset="-122"/>
              <a:cs typeface="Alibaba PuHuiTi M" pitchFamily="18" charset="-122"/>
            </a:endParaRPr>
          </a:p>
        </p:txBody>
      </p:sp>
      <p:sp>
        <p:nvSpPr>
          <p:cNvPr id="1048602" name="矩形 4"/>
          <p:cNvSpPr/>
          <p:nvPr/>
        </p:nvSpPr>
        <p:spPr>
          <a:xfrm>
            <a:off x="474186" y="776141"/>
            <a:ext cx="752690" cy="36000"/>
          </a:xfrm>
          <a:prstGeom prst="rect">
            <a:avLst/>
          </a:prstGeom>
          <a:solidFill>
            <a:srgbClr val="00F1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/>
              <a:t> </a:t>
            </a:r>
          </a:p>
        </p:txBody>
      </p:sp>
      <p:sp>
        <p:nvSpPr>
          <p:cNvPr id="1048603" name="矩形 6"/>
          <p:cNvSpPr/>
          <p:nvPr/>
        </p:nvSpPr>
        <p:spPr>
          <a:xfrm>
            <a:off x="474186" y="776140"/>
            <a:ext cx="11412000" cy="18000"/>
          </a:xfrm>
          <a:prstGeom prst="rect">
            <a:avLst/>
          </a:prstGeom>
          <a:solidFill>
            <a:srgbClr val="00F1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/>
              <a:t> 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0B2E209A-2BDC-E9C3-7FA8-4E1AFE080C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8710" y="1646615"/>
            <a:ext cx="7654580" cy="4966473"/>
          </a:xfrm>
          <a:prstGeom prst="rect">
            <a:avLst/>
          </a:prstGeom>
        </p:spPr>
      </p:pic>
      <p:sp>
        <p:nvSpPr>
          <p:cNvPr id="3" name="内容占位符 4">
            <a:extLst>
              <a:ext uri="{FF2B5EF4-FFF2-40B4-BE49-F238E27FC236}">
                <a16:creationId xmlns:a16="http://schemas.microsoft.com/office/drawing/2014/main" id="{4763A987-3BBA-0495-0B13-0CA5E382AF17}"/>
              </a:ext>
            </a:extLst>
          </p:cNvPr>
          <p:cNvSpPr txBox="1">
            <a:spLocks/>
          </p:cNvSpPr>
          <p:nvPr/>
        </p:nvSpPr>
        <p:spPr>
          <a:xfrm>
            <a:off x="3441930" y="1040875"/>
            <a:ext cx="5308139" cy="4758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bg1">
                    <a:lumMod val="95000"/>
                    <a:lumOff val="5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600" kern="1200">
                <a:solidFill>
                  <a:schemeClr val="bg1">
                    <a:lumMod val="95000"/>
                    <a:lumOff val="5000"/>
                  </a:schemeClr>
                </a:solidFill>
                <a:latin typeface="+mn-ea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400" kern="1200">
                <a:solidFill>
                  <a:schemeClr val="bg1">
                    <a:lumMod val="95000"/>
                    <a:lumOff val="5000"/>
                  </a:schemeClr>
                </a:solidFill>
                <a:latin typeface="+mn-ea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200" kern="1200">
                <a:solidFill>
                  <a:schemeClr val="bg1">
                    <a:lumMod val="95000"/>
                    <a:lumOff val="5000"/>
                  </a:schemeClr>
                </a:solidFill>
                <a:latin typeface="+mn-ea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200" kern="1200">
                <a:solidFill>
                  <a:schemeClr val="bg1">
                    <a:lumMod val="95000"/>
                    <a:lumOff val="5000"/>
                  </a:schemeClr>
                </a:solidFill>
                <a:latin typeface="+mn-ea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Font typeface="Arial" panose="020B0604020202090204" pitchFamily="34" charset="0"/>
              <a:buNone/>
            </a:pPr>
            <a:r>
              <a:rPr kumimoji="1" lang="en-US" altLang="zh-CN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More Intuitively Search with Natural Language</a:t>
            </a:r>
          </a:p>
        </p:txBody>
      </p:sp>
    </p:spTree>
    <p:extLst>
      <p:ext uri="{BB962C8B-B14F-4D97-AF65-F5344CB8AC3E}">
        <p14:creationId xmlns:p14="http://schemas.microsoft.com/office/powerpoint/2010/main" val="23026284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1" name="文本框 3"/>
          <p:cNvSpPr txBox="1"/>
          <p:nvPr/>
        </p:nvSpPr>
        <p:spPr>
          <a:xfrm>
            <a:off x="385763" y="171805"/>
            <a:ext cx="7670218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600" b="1" dirty="0">
                <a:solidFill>
                  <a:schemeClr val="bg1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rPr>
              <a:t>Aggregated Views: Cluster and Namespace</a:t>
            </a:r>
            <a:endParaRPr kumimoji="1" lang="zh-CN" altLang="en-US" sz="2600" b="1" dirty="0">
              <a:solidFill>
                <a:schemeClr val="bg1"/>
              </a:solidFill>
              <a:latin typeface="Alibaba PuHuiTi M" pitchFamily="18" charset="-122"/>
              <a:ea typeface="Alibaba PuHuiTi M" pitchFamily="18" charset="-122"/>
              <a:cs typeface="Alibaba PuHuiTi M" pitchFamily="18" charset="-122"/>
            </a:endParaRPr>
          </a:p>
        </p:txBody>
      </p:sp>
      <p:sp>
        <p:nvSpPr>
          <p:cNvPr id="1048602" name="矩形 4"/>
          <p:cNvSpPr/>
          <p:nvPr/>
        </p:nvSpPr>
        <p:spPr>
          <a:xfrm>
            <a:off x="474186" y="776141"/>
            <a:ext cx="752690" cy="36000"/>
          </a:xfrm>
          <a:prstGeom prst="rect">
            <a:avLst/>
          </a:prstGeom>
          <a:solidFill>
            <a:srgbClr val="00F1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/>
              <a:t> </a:t>
            </a:r>
          </a:p>
        </p:txBody>
      </p:sp>
      <p:sp>
        <p:nvSpPr>
          <p:cNvPr id="1048603" name="矩形 6"/>
          <p:cNvSpPr/>
          <p:nvPr/>
        </p:nvSpPr>
        <p:spPr>
          <a:xfrm>
            <a:off x="474186" y="776140"/>
            <a:ext cx="11412000" cy="18000"/>
          </a:xfrm>
          <a:prstGeom prst="rect">
            <a:avLst/>
          </a:prstGeom>
          <a:solidFill>
            <a:srgbClr val="00F1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/>
              <a:t> </a:t>
            </a:r>
          </a:p>
        </p:txBody>
      </p:sp>
      <p:pic>
        <p:nvPicPr>
          <p:cNvPr id="2" name="insight">
            <a:hlinkClick r:id="" action="ppaction://media"/>
            <a:extLst>
              <a:ext uri="{FF2B5EF4-FFF2-40B4-BE49-F238E27FC236}">
                <a16:creationId xmlns:a16="http://schemas.microsoft.com/office/drawing/2014/main" id="{49F106A4-01BF-3137-3A8A-04D90B7BD6F7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268710" y="1660470"/>
            <a:ext cx="7654580" cy="4920801"/>
          </a:xfrm>
          <a:prstGeom prst="rect">
            <a:avLst/>
          </a:prstGeom>
        </p:spPr>
      </p:pic>
      <p:sp>
        <p:nvSpPr>
          <p:cNvPr id="3" name="内容占位符 4">
            <a:extLst>
              <a:ext uri="{FF2B5EF4-FFF2-40B4-BE49-F238E27FC236}">
                <a16:creationId xmlns:a16="http://schemas.microsoft.com/office/drawing/2014/main" id="{DD37EE08-499D-34B8-234C-A67DD1F60A6F}"/>
              </a:ext>
            </a:extLst>
          </p:cNvPr>
          <p:cNvSpPr txBox="1">
            <a:spLocks/>
          </p:cNvSpPr>
          <p:nvPr/>
        </p:nvSpPr>
        <p:spPr>
          <a:xfrm>
            <a:off x="2352896" y="1013682"/>
            <a:ext cx="7654580" cy="5168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bg1">
                    <a:lumMod val="95000"/>
                    <a:lumOff val="5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600" kern="1200">
                <a:solidFill>
                  <a:schemeClr val="bg1">
                    <a:lumMod val="95000"/>
                    <a:lumOff val="5000"/>
                  </a:schemeClr>
                </a:solidFill>
                <a:latin typeface="+mn-ea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400" kern="1200">
                <a:solidFill>
                  <a:schemeClr val="bg1">
                    <a:lumMod val="95000"/>
                    <a:lumOff val="5000"/>
                  </a:schemeClr>
                </a:solidFill>
                <a:latin typeface="+mn-ea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200" kern="1200">
                <a:solidFill>
                  <a:schemeClr val="bg1">
                    <a:lumMod val="95000"/>
                    <a:lumOff val="5000"/>
                  </a:schemeClr>
                </a:solidFill>
                <a:latin typeface="+mn-ea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200" kern="1200">
                <a:solidFill>
                  <a:schemeClr val="bg1">
                    <a:lumMod val="95000"/>
                    <a:lumOff val="5000"/>
                  </a:schemeClr>
                </a:solidFill>
                <a:latin typeface="+mn-ea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Font typeface="Arial" panose="020B0604020202090204" pitchFamily="34" charset="0"/>
              <a:buNone/>
            </a:pPr>
            <a:r>
              <a:rPr kumimoji="1" lang="en-US" altLang="zh-CN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Cluster Health, Resource Topology, Vulnerabilities,  Logs and Events, etc.</a:t>
            </a:r>
          </a:p>
        </p:txBody>
      </p:sp>
    </p:spTree>
    <p:extLst>
      <p:ext uri="{BB962C8B-B14F-4D97-AF65-F5344CB8AC3E}">
        <p14:creationId xmlns:p14="http://schemas.microsoft.com/office/powerpoint/2010/main" val="31596225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430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  <p:video>
              <p:cMediaNode vol="80000">
                <p:cTn id="12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1" name="文本框 3"/>
          <p:cNvSpPr txBox="1"/>
          <p:nvPr/>
        </p:nvSpPr>
        <p:spPr>
          <a:xfrm>
            <a:off x="385763" y="171805"/>
            <a:ext cx="8075331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600" b="1" dirty="0">
                <a:solidFill>
                  <a:schemeClr val="bg1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rPr>
              <a:t>Aggregated Views: Customized Logical Groups </a:t>
            </a:r>
            <a:endParaRPr kumimoji="1" lang="zh-CN" altLang="en-US" sz="2600" b="1" dirty="0">
              <a:solidFill>
                <a:schemeClr val="bg1"/>
              </a:solidFill>
              <a:latin typeface="Alibaba PuHuiTi M" pitchFamily="18" charset="-122"/>
              <a:ea typeface="Alibaba PuHuiTi M" pitchFamily="18" charset="-122"/>
              <a:cs typeface="Alibaba PuHuiTi M" pitchFamily="18" charset="-122"/>
            </a:endParaRPr>
          </a:p>
        </p:txBody>
      </p:sp>
      <p:sp>
        <p:nvSpPr>
          <p:cNvPr id="1048602" name="矩形 4"/>
          <p:cNvSpPr/>
          <p:nvPr/>
        </p:nvSpPr>
        <p:spPr>
          <a:xfrm>
            <a:off x="474186" y="776141"/>
            <a:ext cx="752690" cy="36000"/>
          </a:xfrm>
          <a:prstGeom prst="rect">
            <a:avLst/>
          </a:prstGeom>
          <a:solidFill>
            <a:srgbClr val="00F1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/>
              <a:t> </a:t>
            </a:r>
          </a:p>
        </p:txBody>
      </p:sp>
      <p:sp>
        <p:nvSpPr>
          <p:cNvPr id="1048603" name="矩形 6"/>
          <p:cNvSpPr/>
          <p:nvPr/>
        </p:nvSpPr>
        <p:spPr>
          <a:xfrm>
            <a:off x="474186" y="776140"/>
            <a:ext cx="11412000" cy="18000"/>
          </a:xfrm>
          <a:prstGeom prst="rect">
            <a:avLst/>
          </a:prstGeom>
          <a:solidFill>
            <a:srgbClr val="00F1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/>
              <a:t> 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0C388679-26F6-E400-3C08-FAF418DBBD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96886" y="1617432"/>
            <a:ext cx="7626403" cy="4980334"/>
          </a:xfrm>
          <a:prstGeom prst="rect">
            <a:avLst/>
          </a:prstGeom>
        </p:spPr>
      </p:pic>
      <p:sp>
        <p:nvSpPr>
          <p:cNvPr id="3" name="内容占位符 4">
            <a:extLst>
              <a:ext uri="{FF2B5EF4-FFF2-40B4-BE49-F238E27FC236}">
                <a16:creationId xmlns:a16="http://schemas.microsoft.com/office/drawing/2014/main" id="{E93466A4-B4CB-8AE8-4945-F63FC3F4601C}"/>
              </a:ext>
            </a:extLst>
          </p:cNvPr>
          <p:cNvSpPr txBox="1">
            <a:spLocks/>
          </p:cNvSpPr>
          <p:nvPr/>
        </p:nvSpPr>
        <p:spPr>
          <a:xfrm>
            <a:off x="2127285" y="999295"/>
            <a:ext cx="7937430" cy="45800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bg1">
                    <a:lumMod val="95000"/>
                    <a:lumOff val="5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600" kern="1200">
                <a:solidFill>
                  <a:schemeClr val="bg1">
                    <a:lumMod val="95000"/>
                    <a:lumOff val="5000"/>
                  </a:schemeClr>
                </a:solidFill>
                <a:latin typeface="+mn-ea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400" kern="1200">
                <a:solidFill>
                  <a:schemeClr val="bg1">
                    <a:lumMod val="95000"/>
                    <a:lumOff val="5000"/>
                  </a:schemeClr>
                </a:solidFill>
                <a:latin typeface="+mn-ea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200" kern="1200">
                <a:solidFill>
                  <a:schemeClr val="bg1">
                    <a:lumMod val="95000"/>
                    <a:lumOff val="5000"/>
                  </a:schemeClr>
                </a:solidFill>
                <a:latin typeface="+mn-ea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200" kern="1200">
                <a:solidFill>
                  <a:schemeClr val="bg1">
                    <a:lumMod val="95000"/>
                    <a:lumOff val="5000"/>
                  </a:schemeClr>
                </a:solidFill>
                <a:latin typeface="+mn-ea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buFont typeface="Arial" panose="020B0604020202090204" pitchFamily="34" charset="0"/>
              <a:buNone/>
            </a:pPr>
            <a:r>
              <a:rPr kumimoji="1" lang="en-US" altLang="zh-CN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Customized Resource Groups, e.g. application resources cross clusters </a:t>
            </a:r>
          </a:p>
        </p:txBody>
      </p:sp>
    </p:spTree>
    <p:extLst>
      <p:ext uri="{BB962C8B-B14F-4D97-AF65-F5344CB8AC3E}">
        <p14:creationId xmlns:p14="http://schemas.microsoft.com/office/powerpoint/2010/main" val="42776326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1" name="文本框 3"/>
          <p:cNvSpPr txBox="1"/>
          <p:nvPr/>
        </p:nvSpPr>
        <p:spPr>
          <a:xfrm>
            <a:off x="385763" y="171805"/>
            <a:ext cx="681369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600" b="1" dirty="0">
                <a:solidFill>
                  <a:schemeClr val="bg1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rPr>
              <a:t>Aggregated Views: Compliance Reports</a:t>
            </a:r>
            <a:endParaRPr kumimoji="1" lang="zh-CN" altLang="en-US" sz="2600" b="1" dirty="0">
              <a:solidFill>
                <a:schemeClr val="bg1"/>
              </a:solidFill>
              <a:latin typeface="Alibaba PuHuiTi M" pitchFamily="18" charset="-122"/>
              <a:ea typeface="Alibaba PuHuiTi M" pitchFamily="18" charset="-122"/>
              <a:cs typeface="Alibaba PuHuiTi M" pitchFamily="18" charset="-122"/>
            </a:endParaRPr>
          </a:p>
        </p:txBody>
      </p:sp>
      <p:sp>
        <p:nvSpPr>
          <p:cNvPr id="1048602" name="矩形 4"/>
          <p:cNvSpPr/>
          <p:nvPr/>
        </p:nvSpPr>
        <p:spPr>
          <a:xfrm>
            <a:off x="474186" y="776141"/>
            <a:ext cx="752690" cy="36000"/>
          </a:xfrm>
          <a:prstGeom prst="rect">
            <a:avLst/>
          </a:prstGeom>
          <a:solidFill>
            <a:srgbClr val="00F1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/>
              <a:t> </a:t>
            </a:r>
          </a:p>
        </p:txBody>
      </p:sp>
      <p:sp>
        <p:nvSpPr>
          <p:cNvPr id="1048603" name="矩形 6"/>
          <p:cNvSpPr/>
          <p:nvPr/>
        </p:nvSpPr>
        <p:spPr>
          <a:xfrm>
            <a:off x="474186" y="776140"/>
            <a:ext cx="11412000" cy="18000"/>
          </a:xfrm>
          <a:prstGeom prst="rect">
            <a:avLst/>
          </a:prstGeom>
          <a:solidFill>
            <a:srgbClr val="00F1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/>
              <a:t> </a:t>
            </a:r>
          </a:p>
        </p:txBody>
      </p:sp>
      <p:sp>
        <p:nvSpPr>
          <p:cNvPr id="3" name="内容占位符 4">
            <a:extLst>
              <a:ext uri="{FF2B5EF4-FFF2-40B4-BE49-F238E27FC236}">
                <a16:creationId xmlns:a16="http://schemas.microsoft.com/office/drawing/2014/main" id="{E93466A4-B4CB-8AE8-4945-F63FC3F4601C}"/>
              </a:ext>
            </a:extLst>
          </p:cNvPr>
          <p:cNvSpPr txBox="1">
            <a:spLocks/>
          </p:cNvSpPr>
          <p:nvPr/>
        </p:nvSpPr>
        <p:spPr>
          <a:xfrm>
            <a:off x="1446835" y="1000983"/>
            <a:ext cx="9664862" cy="457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bg1">
                    <a:lumMod val="95000"/>
                    <a:lumOff val="5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600" kern="1200">
                <a:solidFill>
                  <a:schemeClr val="bg1">
                    <a:lumMod val="95000"/>
                    <a:lumOff val="5000"/>
                  </a:schemeClr>
                </a:solidFill>
                <a:latin typeface="+mn-ea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400" kern="1200">
                <a:solidFill>
                  <a:schemeClr val="bg1">
                    <a:lumMod val="95000"/>
                    <a:lumOff val="5000"/>
                  </a:schemeClr>
                </a:solidFill>
                <a:latin typeface="+mn-ea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200" kern="1200">
                <a:solidFill>
                  <a:schemeClr val="bg1">
                    <a:lumMod val="95000"/>
                    <a:lumOff val="5000"/>
                  </a:schemeClr>
                </a:solidFill>
                <a:latin typeface="+mn-ea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200" kern="1200">
                <a:solidFill>
                  <a:schemeClr val="bg1">
                    <a:lumMod val="95000"/>
                    <a:lumOff val="5000"/>
                  </a:schemeClr>
                </a:solidFill>
                <a:latin typeface="+mn-ea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Font typeface="Arial" panose="020B0604020202090204" pitchFamily="34" charset="0"/>
              <a:buNone/>
            </a:pPr>
            <a:r>
              <a:rPr kumimoji="1" lang="en-US" altLang="zh-CN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Analyze and identify security and compliance risks by scanning resources on a regular basis</a:t>
            </a:r>
            <a:endParaRPr kumimoji="1" lang="zh-CN" altLang="en-US" dirty="0"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4F8C22C9-49B7-5DAC-28E8-13173F2C25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80186" y="1665026"/>
            <a:ext cx="5877205" cy="41139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CCC313E-FD99-E9A6-9DD9-0BB818E883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12" y="1665026"/>
            <a:ext cx="5904205" cy="41319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524396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1" name="文本框 3"/>
          <p:cNvSpPr txBox="1"/>
          <p:nvPr/>
        </p:nvSpPr>
        <p:spPr>
          <a:xfrm>
            <a:off x="385761" y="171805"/>
            <a:ext cx="9198077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600" b="1" dirty="0">
                <a:solidFill>
                  <a:schemeClr val="bg1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rPr>
              <a:t>Intelligence for Kubernetes</a:t>
            </a:r>
            <a:r>
              <a:rPr kumimoji="1" lang="zh-CN" altLang="en-US" sz="2600" b="1" dirty="0">
                <a:solidFill>
                  <a:schemeClr val="bg1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rPr>
              <a:t>：</a:t>
            </a:r>
            <a:r>
              <a:rPr kumimoji="1" lang="en-US" altLang="zh-CN" sz="2600" b="1" dirty="0">
                <a:solidFill>
                  <a:schemeClr val="bg1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rPr>
              <a:t>AI-Empowered Insights</a:t>
            </a:r>
            <a:endParaRPr kumimoji="1" lang="zh-CN" altLang="en-US" sz="2600" b="1" dirty="0">
              <a:solidFill>
                <a:schemeClr val="bg1"/>
              </a:solidFill>
              <a:latin typeface="Alibaba PuHuiTi M" pitchFamily="18" charset="-122"/>
              <a:ea typeface="Alibaba PuHuiTi M" pitchFamily="18" charset="-122"/>
              <a:cs typeface="Alibaba PuHuiTi M" pitchFamily="18" charset="-122"/>
            </a:endParaRPr>
          </a:p>
        </p:txBody>
      </p:sp>
      <p:sp>
        <p:nvSpPr>
          <p:cNvPr id="1048602" name="矩形 4"/>
          <p:cNvSpPr/>
          <p:nvPr/>
        </p:nvSpPr>
        <p:spPr>
          <a:xfrm>
            <a:off x="474186" y="776141"/>
            <a:ext cx="752690" cy="36000"/>
          </a:xfrm>
          <a:prstGeom prst="rect">
            <a:avLst/>
          </a:prstGeom>
          <a:solidFill>
            <a:srgbClr val="00F1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/>
              <a:t> </a:t>
            </a:r>
          </a:p>
        </p:txBody>
      </p:sp>
      <p:sp>
        <p:nvSpPr>
          <p:cNvPr id="1048603" name="矩形 6"/>
          <p:cNvSpPr/>
          <p:nvPr/>
        </p:nvSpPr>
        <p:spPr>
          <a:xfrm>
            <a:off x="474186" y="776140"/>
            <a:ext cx="11412000" cy="18000"/>
          </a:xfrm>
          <a:prstGeom prst="rect">
            <a:avLst/>
          </a:prstGeom>
          <a:solidFill>
            <a:srgbClr val="00F1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/>
              <a:t> </a:t>
            </a:r>
          </a:p>
        </p:txBody>
      </p:sp>
      <p:pic>
        <p:nvPicPr>
          <p:cNvPr id="2" name="ai">
            <a:hlinkClick r:id="" action="ppaction://media"/>
            <a:extLst>
              <a:ext uri="{FF2B5EF4-FFF2-40B4-BE49-F238E27FC236}">
                <a16:creationId xmlns:a16="http://schemas.microsoft.com/office/drawing/2014/main" id="{0BC477FD-054D-D8A6-9068-FB0A6320A567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296887" y="1603313"/>
            <a:ext cx="7626402" cy="4980334"/>
          </a:xfrm>
          <a:prstGeom prst="rect">
            <a:avLst/>
          </a:prstGeom>
        </p:spPr>
      </p:pic>
      <p:sp>
        <p:nvSpPr>
          <p:cNvPr id="3" name="内容占位符 4">
            <a:extLst>
              <a:ext uri="{FF2B5EF4-FFF2-40B4-BE49-F238E27FC236}">
                <a16:creationId xmlns:a16="http://schemas.microsoft.com/office/drawing/2014/main" id="{96F6C802-46DC-2854-4C47-EFBBA7E493E2}"/>
              </a:ext>
            </a:extLst>
          </p:cNvPr>
          <p:cNvSpPr txBox="1">
            <a:spLocks/>
          </p:cNvSpPr>
          <p:nvPr/>
        </p:nvSpPr>
        <p:spPr>
          <a:xfrm>
            <a:off x="552837" y="1074652"/>
            <a:ext cx="11114502" cy="5286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bg1">
                    <a:lumMod val="95000"/>
                    <a:lumOff val="5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600" kern="1200">
                <a:solidFill>
                  <a:schemeClr val="bg1">
                    <a:lumMod val="95000"/>
                    <a:lumOff val="5000"/>
                  </a:schemeClr>
                </a:solidFill>
                <a:latin typeface="+mn-ea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400" kern="1200">
                <a:solidFill>
                  <a:schemeClr val="bg1">
                    <a:lumMod val="95000"/>
                    <a:lumOff val="5000"/>
                  </a:schemeClr>
                </a:solidFill>
                <a:latin typeface="+mn-ea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200" kern="1200">
                <a:solidFill>
                  <a:schemeClr val="bg1">
                    <a:lumMod val="95000"/>
                    <a:lumOff val="5000"/>
                  </a:schemeClr>
                </a:solidFill>
                <a:latin typeface="+mn-ea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200" kern="1200">
                <a:solidFill>
                  <a:schemeClr val="bg1">
                    <a:lumMod val="95000"/>
                    <a:lumOff val="5000"/>
                  </a:schemeClr>
                </a:solidFill>
                <a:latin typeface="+mn-ea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Font typeface="Arial" panose="020B0604020202090204" pitchFamily="34" charset="0"/>
              <a:buNone/>
            </a:pPr>
            <a:r>
              <a:rPr kumimoji="1" lang="en-US" altLang="zh-CN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Analyze resource YAMLs, compliance issues, Kubernetes events</a:t>
            </a:r>
            <a:r>
              <a:rPr kumimoji="1" lang="zh-CN" altLang="en-US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 </a:t>
            </a:r>
            <a:r>
              <a:rPr kumimoji="1" lang="en-US" altLang="zh-CN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and logs to excavate deeper insights</a:t>
            </a:r>
          </a:p>
        </p:txBody>
      </p:sp>
    </p:spTree>
    <p:extLst>
      <p:ext uri="{BB962C8B-B14F-4D97-AF65-F5344CB8AC3E}">
        <p14:creationId xmlns:p14="http://schemas.microsoft.com/office/powerpoint/2010/main" val="12977235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680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  <p:video>
              <p:cMediaNode vol="80000">
                <p:cTn id="12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4" name="文本框 6"/>
          <p:cNvSpPr txBox="1"/>
          <p:nvPr/>
        </p:nvSpPr>
        <p:spPr>
          <a:xfrm>
            <a:off x="385763" y="171805"/>
            <a:ext cx="8480445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600" b="1" dirty="0">
                <a:solidFill>
                  <a:schemeClr val="bg1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rPr>
              <a:t>Adoption at Ant Group: From OCM to Karpor</a:t>
            </a:r>
            <a:endParaRPr kumimoji="1" lang="zh-CN" altLang="en-US" sz="2600" b="1" dirty="0">
              <a:solidFill>
                <a:schemeClr val="bg1"/>
              </a:solidFill>
              <a:latin typeface="Alibaba PuHuiTi M" pitchFamily="18" charset="-122"/>
              <a:ea typeface="Alibaba PuHuiTi M" pitchFamily="18" charset="-122"/>
              <a:cs typeface="Alibaba PuHuiTi M" pitchFamily="18" charset="-122"/>
            </a:endParaRPr>
          </a:p>
        </p:txBody>
      </p:sp>
      <p:sp>
        <p:nvSpPr>
          <p:cNvPr id="1048605" name="矩形 7"/>
          <p:cNvSpPr/>
          <p:nvPr/>
        </p:nvSpPr>
        <p:spPr>
          <a:xfrm>
            <a:off x="474186" y="776141"/>
            <a:ext cx="752690" cy="36000"/>
          </a:xfrm>
          <a:prstGeom prst="rect">
            <a:avLst/>
          </a:prstGeom>
          <a:solidFill>
            <a:srgbClr val="00F1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/>
              <a:t> </a:t>
            </a:r>
          </a:p>
        </p:txBody>
      </p:sp>
      <p:sp>
        <p:nvSpPr>
          <p:cNvPr id="1048606" name="矩形 8"/>
          <p:cNvSpPr/>
          <p:nvPr/>
        </p:nvSpPr>
        <p:spPr>
          <a:xfrm>
            <a:off x="474186" y="776140"/>
            <a:ext cx="11412000" cy="18000"/>
          </a:xfrm>
          <a:prstGeom prst="rect">
            <a:avLst/>
          </a:prstGeom>
          <a:solidFill>
            <a:srgbClr val="00F1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/>
              <a:t> 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8DA7E626-D55A-2169-C283-5B644480F6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1038" y="1734194"/>
            <a:ext cx="5663692" cy="4831051"/>
          </a:xfrm>
          <a:prstGeom prst="rect">
            <a:avLst/>
          </a:prstGeom>
        </p:spPr>
      </p:pic>
      <p:sp>
        <p:nvSpPr>
          <p:cNvPr id="8" name="集群本地存储+OSS冷存架构性价比">
            <a:extLst>
              <a:ext uri="{FF2B5EF4-FFF2-40B4-BE49-F238E27FC236}">
                <a16:creationId xmlns:a16="http://schemas.microsoft.com/office/drawing/2014/main" id="{8379C66B-B7F0-4403-2B1A-534AB4E4FE0C}"/>
              </a:ext>
            </a:extLst>
          </p:cNvPr>
          <p:cNvSpPr txBox="1"/>
          <p:nvPr/>
        </p:nvSpPr>
        <p:spPr>
          <a:xfrm>
            <a:off x="2778373" y="1173415"/>
            <a:ext cx="972922" cy="4308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>
            <a:spAutoFit/>
          </a:bodyPr>
          <a:lstStyle>
            <a:lvl1pPr algn="l" defTabSz="274320">
              <a:defRPr sz="5000">
                <a:solidFill>
                  <a:srgbClr val="373737"/>
                </a:solidFill>
                <a:latin typeface="Alibaba-PuHuiTi-M"/>
                <a:ea typeface="Alibaba-PuHuiTi-M"/>
                <a:cs typeface="Alibaba-PuHuiTi-M"/>
                <a:sym typeface="Alibaba-PuHuiTi-M"/>
              </a:defRPr>
            </a:lvl1pPr>
          </a:lstStyle>
          <a:p>
            <a:r>
              <a:rPr lang="en-US" altLang="zh-CN" sz="2800" dirty="0">
                <a:latin typeface="Alibaba PuHuiTi M" pitchFamily="18" charset="-122"/>
                <a:ea typeface="Alibaba PuHuiTi M" pitchFamily="18" charset="-122"/>
                <a:cs typeface="Alibaba PuHuiTi M" pitchFamily="18" charset="-122"/>
              </a:rPr>
              <a:t>OCM</a:t>
            </a:r>
            <a:endParaRPr lang="zh-CN" altLang="en-US" sz="2800" dirty="0">
              <a:latin typeface="Alibaba PuHuiTi M" pitchFamily="18" charset="-122"/>
              <a:ea typeface="Alibaba PuHuiTi M" pitchFamily="18" charset="-122"/>
              <a:cs typeface="Alibaba PuHuiTi M" pitchFamily="18" charset="-122"/>
            </a:endParaRPr>
          </a:p>
        </p:txBody>
      </p:sp>
      <p:sp>
        <p:nvSpPr>
          <p:cNvPr id="9" name="集群本地存储+OSS冷存架构性价比">
            <a:extLst>
              <a:ext uri="{FF2B5EF4-FFF2-40B4-BE49-F238E27FC236}">
                <a16:creationId xmlns:a16="http://schemas.microsoft.com/office/drawing/2014/main" id="{3AD05A73-A795-A160-1CA5-C30EC2A6EEA0}"/>
              </a:ext>
            </a:extLst>
          </p:cNvPr>
          <p:cNvSpPr txBox="1"/>
          <p:nvPr/>
        </p:nvSpPr>
        <p:spPr>
          <a:xfrm>
            <a:off x="8350767" y="1166004"/>
            <a:ext cx="1298560" cy="4308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>
            <a:spAutoFit/>
          </a:bodyPr>
          <a:lstStyle>
            <a:lvl1pPr algn="l" defTabSz="274320">
              <a:defRPr sz="5000">
                <a:solidFill>
                  <a:srgbClr val="373737"/>
                </a:solidFill>
                <a:latin typeface="Alibaba-PuHuiTi-M"/>
                <a:ea typeface="Alibaba-PuHuiTi-M"/>
                <a:cs typeface="Alibaba-PuHuiTi-M"/>
                <a:sym typeface="Alibaba-PuHuiTi-M"/>
              </a:defRPr>
            </a:lvl1pPr>
          </a:lstStyle>
          <a:p>
            <a:r>
              <a:rPr lang="en-US" altLang="zh-CN" sz="2800" dirty="0">
                <a:latin typeface="Alibaba PuHuiTi M" pitchFamily="18" charset="-122"/>
                <a:ea typeface="Alibaba PuHuiTi M" pitchFamily="18" charset="-122"/>
                <a:cs typeface="Alibaba PuHuiTi M" pitchFamily="18" charset="-122"/>
              </a:rPr>
              <a:t>Karpor</a:t>
            </a:r>
            <a:endParaRPr lang="zh-CN" altLang="en-US" sz="2800" dirty="0">
              <a:latin typeface="Alibaba PuHuiTi M" pitchFamily="18" charset="-122"/>
              <a:ea typeface="Alibaba PuHuiTi M" pitchFamily="18" charset="-122"/>
              <a:cs typeface="Alibaba PuHuiTi M" pitchFamily="18" charset="-122"/>
            </a:endParaRPr>
          </a:p>
        </p:txBody>
      </p:sp>
      <p:sp>
        <p:nvSpPr>
          <p:cNvPr id="10" name="右箭头 9">
            <a:extLst>
              <a:ext uri="{FF2B5EF4-FFF2-40B4-BE49-F238E27FC236}">
                <a16:creationId xmlns:a16="http://schemas.microsoft.com/office/drawing/2014/main" id="{226062A6-DDAD-C62B-C4FF-AB4FC3C5FBD3}"/>
              </a:ext>
            </a:extLst>
          </p:cNvPr>
          <p:cNvSpPr/>
          <p:nvPr/>
        </p:nvSpPr>
        <p:spPr>
          <a:xfrm>
            <a:off x="5539428" y="3192450"/>
            <a:ext cx="362811" cy="34955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内容占位符 4">
            <a:extLst>
              <a:ext uri="{FF2B5EF4-FFF2-40B4-BE49-F238E27FC236}">
                <a16:creationId xmlns:a16="http://schemas.microsoft.com/office/drawing/2014/main" id="{E32D799D-8424-BC80-220A-8A713C032FFE}"/>
              </a:ext>
            </a:extLst>
          </p:cNvPr>
          <p:cNvSpPr txBox="1">
            <a:spLocks/>
          </p:cNvSpPr>
          <p:nvPr/>
        </p:nvSpPr>
        <p:spPr>
          <a:xfrm>
            <a:off x="516495" y="5315685"/>
            <a:ext cx="5131951" cy="1213261"/>
          </a:xfrm>
          <a:prstGeom prst="rect">
            <a:avLst/>
          </a:prstGeom>
          <a:ln>
            <a:noFill/>
          </a:ln>
        </p:spPr>
        <p:txBody>
          <a:bodyPr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zh-CN" sz="1600" dirty="0">
                <a:latin typeface="Alibaba PuHuiTi 2.0 55 Regular" pitchFamily="18" charset="-122"/>
                <a:ea typeface="Alibaba PuHuiTi 2.0 55 Regular" pitchFamily="18" charset="-122"/>
                <a:cs typeface="Alibaba PuHuiTi 2.0 55 Regular" pitchFamily="18" charset="-122"/>
              </a:rPr>
              <a:t>Pain points of Syncer -&gt;</a:t>
            </a:r>
          </a:p>
          <a:p>
            <a:r>
              <a:rPr lang="en-US" altLang="zh-CN" sz="1600" dirty="0">
                <a:latin typeface="Alibaba PuHuiTi 2.0 55 Regular" pitchFamily="18" charset="-122"/>
                <a:ea typeface="Alibaba PuHuiTi 2.0 55 Regular" pitchFamily="18" charset="-122"/>
                <a:cs typeface="Alibaba PuHuiTi 2.0 55 Regular" pitchFamily="18" charset="-122"/>
              </a:rPr>
              <a:t>Too many clusters. Syncer becomes a SPOF</a:t>
            </a:r>
          </a:p>
          <a:p>
            <a:r>
              <a:rPr lang="en-US" altLang="zh-CN" sz="1600" dirty="0">
                <a:latin typeface="Alibaba PuHuiTi 2.0 55 Regular" pitchFamily="18" charset="-122"/>
                <a:ea typeface="Alibaba PuHuiTi 2.0 55 Regular" pitchFamily="18" charset="-122"/>
                <a:cs typeface="Alibaba PuHuiTi 2.0 55 Regular" pitchFamily="18" charset="-122"/>
              </a:rPr>
              <a:t>Clusters are huge in size. Syncer consumes a ton of resources</a:t>
            </a:r>
            <a:endParaRPr lang="zh-CN" altLang="en-US" sz="1600" dirty="0">
              <a:latin typeface="Alibaba PuHuiTi 2.0 55 Regular" pitchFamily="18" charset="-122"/>
              <a:ea typeface="Alibaba PuHuiTi 2.0 55 Regular" pitchFamily="18" charset="-122"/>
              <a:cs typeface="Alibaba PuHuiTi 2.0 55 Regular" pitchFamily="18" charset="-122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13E86D90-7B9E-812A-6D11-07C2958B88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9053" y="1734194"/>
            <a:ext cx="4931576" cy="3266069"/>
          </a:xfrm>
          <a:prstGeom prst="rect">
            <a:avLst/>
          </a:prstGeom>
        </p:spPr>
      </p:pic>
      <p:sp>
        <p:nvSpPr>
          <p:cNvPr id="3" name="圆角矩形 2">
            <a:extLst>
              <a:ext uri="{FF2B5EF4-FFF2-40B4-BE49-F238E27FC236}">
                <a16:creationId xmlns:a16="http://schemas.microsoft.com/office/drawing/2014/main" id="{0F44BE8D-44AC-23CF-A093-6454068E1183}"/>
              </a:ext>
            </a:extLst>
          </p:cNvPr>
          <p:cNvSpPr/>
          <p:nvPr/>
        </p:nvSpPr>
        <p:spPr>
          <a:xfrm>
            <a:off x="8715737" y="5683170"/>
            <a:ext cx="2908993" cy="428263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71509648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4" name="文本框 6"/>
          <p:cNvSpPr txBox="1"/>
          <p:nvPr/>
        </p:nvSpPr>
        <p:spPr>
          <a:xfrm>
            <a:off x="385763" y="171805"/>
            <a:ext cx="6532395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600" b="1" dirty="0">
                <a:solidFill>
                  <a:schemeClr val="bg1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rPr>
              <a:t>Adoption at Ant Group: Push Mode</a:t>
            </a:r>
            <a:endParaRPr kumimoji="1" lang="zh-CN" altLang="en-US" sz="2600" b="1" dirty="0">
              <a:solidFill>
                <a:schemeClr val="bg1"/>
              </a:solidFill>
              <a:latin typeface="Alibaba PuHuiTi M" pitchFamily="18" charset="-122"/>
              <a:ea typeface="Alibaba PuHuiTi M" pitchFamily="18" charset="-122"/>
              <a:cs typeface="Alibaba PuHuiTi M" pitchFamily="18" charset="-122"/>
            </a:endParaRPr>
          </a:p>
        </p:txBody>
      </p:sp>
      <p:sp>
        <p:nvSpPr>
          <p:cNvPr id="1048605" name="矩形 7"/>
          <p:cNvSpPr/>
          <p:nvPr/>
        </p:nvSpPr>
        <p:spPr>
          <a:xfrm>
            <a:off x="474186" y="776141"/>
            <a:ext cx="752690" cy="36000"/>
          </a:xfrm>
          <a:prstGeom prst="rect">
            <a:avLst/>
          </a:prstGeom>
          <a:solidFill>
            <a:srgbClr val="00F1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/>
              <a:t> </a:t>
            </a:r>
          </a:p>
        </p:txBody>
      </p:sp>
      <p:sp>
        <p:nvSpPr>
          <p:cNvPr id="1048606" name="矩形 8"/>
          <p:cNvSpPr/>
          <p:nvPr/>
        </p:nvSpPr>
        <p:spPr>
          <a:xfrm>
            <a:off x="474186" y="776140"/>
            <a:ext cx="11412000" cy="18000"/>
          </a:xfrm>
          <a:prstGeom prst="rect">
            <a:avLst/>
          </a:prstGeom>
          <a:solidFill>
            <a:srgbClr val="00F1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/>
              <a:t> 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B33CF245-02AC-A4CF-D662-1FA73CCC9D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93986" y="1104067"/>
            <a:ext cx="7772400" cy="4848754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D8AAACB0-5778-51E5-A946-D471401C98DD}"/>
              </a:ext>
            </a:extLst>
          </p:cNvPr>
          <p:cNvSpPr txBox="1"/>
          <p:nvPr/>
        </p:nvSpPr>
        <p:spPr>
          <a:xfrm>
            <a:off x="1140725" y="6035828"/>
            <a:ext cx="1007892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cap="none" spc="0">
                <a:ln w="0"/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</a:lstStyle>
          <a:p>
            <a:pPr algn="ctr"/>
            <a:r>
              <a:rPr lang="en-US" altLang="zh-CN" dirty="0">
                <a:solidFill>
                  <a:schemeClr val="tx1"/>
                </a:solidFill>
              </a:rPr>
              <a:t>Syncer</a:t>
            </a:r>
            <a:r>
              <a:rPr lang="zh-CN" altLang="en-US" dirty="0">
                <a:solidFill>
                  <a:schemeClr val="tx1"/>
                </a:solidFill>
              </a:rPr>
              <a:t> </a:t>
            </a:r>
            <a:r>
              <a:rPr lang="en-US" altLang="zh-CN" dirty="0">
                <a:solidFill>
                  <a:schemeClr val="tx1"/>
                </a:solidFill>
              </a:rPr>
              <a:t>Agent in Spoke Clusters with a Push Mode.</a:t>
            </a:r>
          </a:p>
          <a:p>
            <a:pPr algn="ctr"/>
            <a:r>
              <a:rPr lang="en-US" altLang="zh-CN" dirty="0">
                <a:solidFill>
                  <a:schemeClr val="tx1"/>
                </a:solidFill>
              </a:rPr>
              <a:t>This means Karpor needs to get write permissions to create resources in Spoke Clusters.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2A96368-6C5C-9B95-56DE-563B77F87389}"/>
              </a:ext>
            </a:extLst>
          </p:cNvPr>
          <p:cNvSpPr txBox="1"/>
          <p:nvPr/>
        </p:nvSpPr>
        <p:spPr>
          <a:xfrm>
            <a:off x="9022002" y="1835264"/>
            <a:ext cx="192039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cap="none" spc="0" dirty="0">
                <a:ln w="0"/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Showing Data Flows Only</a:t>
            </a:r>
            <a:endParaRPr lang="zh-CN" altLang="en-US" cap="none" spc="0" dirty="0">
              <a:ln w="0"/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4752018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4" name="文本框 6"/>
          <p:cNvSpPr txBox="1"/>
          <p:nvPr/>
        </p:nvSpPr>
        <p:spPr>
          <a:xfrm>
            <a:off x="385764" y="171805"/>
            <a:ext cx="6038185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600" b="1" dirty="0">
                <a:solidFill>
                  <a:schemeClr val="bg1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rPr>
              <a:t>Adoption at Ant Group: Pull Mode</a:t>
            </a:r>
            <a:endParaRPr kumimoji="1" lang="zh-CN" altLang="en-US" sz="2600" b="1" dirty="0">
              <a:solidFill>
                <a:schemeClr val="bg1"/>
              </a:solidFill>
              <a:latin typeface="Alibaba PuHuiTi M" pitchFamily="18" charset="-122"/>
              <a:ea typeface="Alibaba PuHuiTi M" pitchFamily="18" charset="-122"/>
              <a:cs typeface="Alibaba PuHuiTi M" pitchFamily="18" charset="-122"/>
            </a:endParaRPr>
          </a:p>
        </p:txBody>
      </p:sp>
      <p:sp>
        <p:nvSpPr>
          <p:cNvPr id="1048605" name="矩形 7"/>
          <p:cNvSpPr/>
          <p:nvPr/>
        </p:nvSpPr>
        <p:spPr>
          <a:xfrm>
            <a:off x="474186" y="776141"/>
            <a:ext cx="752690" cy="36000"/>
          </a:xfrm>
          <a:prstGeom prst="rect">
            <a:avLst/>
          </a:prstGeom>
          <a:solidFill>
            <a:srgbClr val="00F1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/>
              <a:t> </a:t>
            </a:r>
          </a:p>
        </p:txBody>
      </p:sp>
      <p:sp>
        <p:nvSpPr>
          <p:cNvPr id="1048606" name="矩形 8"/>
          <p:cNvSpPr/>
          <p:nvPr/>
        </p:nvSpPr>
        <p:spPr>
          <a:xfrm>
            <a:off x="474186" y="776140"/>
            <a:ext cx="11412000" cy="18000"/>
          </a:xfrm>
          <a:prstGeom prst="rect">
            <a:avLst/>
          </a:prstGeom>
          <a:solidFill>
            <a:srgbClr val="00F1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/>
              <a:t> 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5DD032A0-0DF7-C457-345B-3CACD173BC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0431" y="1221627"/>
            <a:ext cx="7772400" cy="4306604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A7880CF1-89A6-0C8B-5725-5674817EAE94}"/>
              </a:ext>
            </a:extLst>
          </p:cNvPr>
          <p:cNvSpPr txBox="1"/>
          <p:nvPr/>
        </p:nvSpPr>
        <p:spPr>
          <a:xfrm>
            <a:off x="2628107" y="5758694"/>
            <a:ext cx="635704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dirty="0">
                <a:ln w="0"/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Syncer</a:t>
            </a:r>
            <a:r>
              <a:rPr lang="zh-CN" altLang="en-US" dirty="0">
                <a:ln w="0"/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 </a:t>
            </a:r>
            <a:r>
              <a:rPr lang="en-US" altLang="zh-CN" dirty="0">
                <a:ln w="0"/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Agent in Spoke Cluster with a Pull Mode.</a:t>
            </a:r>
          </a:p>
          <a:p>
            <a:pPr algn="ctr"/>
            <a:r>
              <a:rPr lang="en-US" altLang="zh-CN" cap="none" spc="0" dirty="0">
                <a:ln w="0"/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No need for Karpor to get write permissions.</a:t>
            </a:r>
            <a:endParaRPr lang="zh-CN" altLang="en-US" cap="none" spc="0" dirty="0">
              <a:ln w="0"/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0418AD8-D5F4-98E7-948D-682634DC4731}"/>
              </a:ext>
            </a:extLst>
          </p:cNvPr>
          <p:cNvSpPr txBox="1"/>
          <p:nvPr/>
        </p:nvSpPr>
        <p:spPr>
          <a:xfrm>
            <a:off x="9791881" y="1751809"/>
            <a:ext cx="192039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cap="none" spc="0" dirty="0">
                <a:ln w="0"/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Showing Data Flows Only </a:t>
            </a:r>
            <a:endParaRPr lang="zh-CN" altLang="en-US" cap="none" spc="0" dirty="0">
              <a:ln w="0"/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4779221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4" name="文本框 6"/>
          <p:cNvSpPr txBox="1"/>
          <p:nvPr/>
        </p:nvSpPr>
        <p:spPr>
          <a:xfrm>
            <a:off x="385763" y="171805"/>
            <a:ext cx="409364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600" b="1" dirty="0">
                <a:solidFill>
                  <a:schemeClr val="bg1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rPr>
              <a:t>What are we planning?</a:t>
            </a:r>
            <a:endParaRPr kumimoji="1" lang="zh-CN" altLang="en-US" sz="2600" b="1" dirty="0">
              <a:solidFill>
                <a:schemeClr val="bg1"/>
              </a:solidFill>
              <a:latin typeface="Alibaba PuHuiTi M" pitchFamily="18" charset="-122"/>
              <a:ea typeface="Alibaba PuHuiTi M" pitchFamily="18" charset="-122"/>
              <a:cs typeface="Alibaba PuHuiTi M" pitchFamily="18" charset="-122"/>
            </a:endParaRPr>
          </a:p>
        </p:txBody>
      </p:sp>
      <p:sp>
        <p:nvSpPr>
          <p:cNvPr id="1048605" name="矩形 7"/>
          <p:cNvSpPr/>
          <p:nvPr/>
        </p:nvSpPr>
        <p:spPr>
          <a:xfrm>
            <a:off x="474186" y="776141"/>
            <a:ext cx="752690" cy="36000"/>
          </a:xfrm>
          <a:prstGeom prst="rect">
            <a:avLst/>
          </a:prstGeom>
          <a:solidFill>
            <a:srgbClr val="00F1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/>
              <a:t> </a:t>
            </a:r>
          </a:p>
        </p:txBody>
      </p:sp>
      <p:sp>
        <p:nvSpPr>
          <p:cNvPr id="1048606" name="矩形 8"/>
          <p:cNvSpPr/>
          <p:nvPr/>
        </p:nvSpPr>
        <p:spPr>
          <a:xfrm>
            <a:off x="474186" y="776140"/>
            <a:ext cx="11412000" cy="18000"/>
          </a:xfrm>
          <a:prstGeom prst="rect">
            <a:avLst/>
          </a:prstGeom>
          <a:solidFill>
            <a:srgbClr val="00F1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/>
              <a:t> </a:t>
            </a:r>
          </a:p>
        </p:txBody>
      </p:sp>
      <p:sp>
        <p:nvSpPr>
          <p:cNvPr id="2" name="内容占位符 3">
            <a:extLst>
              <a:ext uri="{FF2B5EF4-FFF2-40B4-BE49-F238E27FC236}">
                <a16:creationId xmlns:a16="http://schemas.microsoft.com/office/drawing/2014/main" id="{453F723D-19F8-86F5-D117-FE1CD4CDFB3B}"/>
              </a:ext>
            </a:extLst>
          </p:cNvPr>
          <p:cNvSpPr txBox="1">
            <a:spLocks/>
          </p:cNvSpPr>
          <p:nvPr/>
        </p:nvSpPr>
        <p:spPr>
          <a:xfrm>
            <a:off x="883652" y="597671"/>
            <a:ext cx="11002533" cy="3076653"/>
          </a:xfrm>
          <a:prstGeom prst="rect">
            <a:avLst/>
          </a:prstGeom>
        </p:spPr>
        <p:txBody>
          <a:bodyPr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endParaRPr lang="en-US" altLang="zh-CN" sz="1600" dirty="0"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zh-CN" sz="16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AI Empowerment: Further embrace AI </a:t>
            </a:r>
            <a:r>
              <a:rPr kumimoji="1" lang="en-US" altLang="zh-CN" sz="16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to provide deeper insights - </a:t>
            </a:r>
            <a:r>
              <a:rPr lang="en" altLang="zh-CN" sz="1600" dirty="0">
                <a:solidFill>
                  <a:srgbClr val="000000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  <a:hlinkClick r:id="rId3"/>
              </a:rPr>
              <a:t>https://github.com/KusionStack/karpor/issues/634</a:t>
            </a:r>
            <a:endParaRPr lang="en-US" altLang="zh-CN" sz="1600" dirty="0">
              <a:solidFill>
                <a:srgbClr val="000000"/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zh-CN" sz="1600" dirty="0">
                <a:solidFill>
                  <a:srgbClr val="000000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Support more clouds: Import Managed K8s on public clouds - </a:t>
            </a:r>
            <a:r>
              <a:rPr lang="en" altLang="zh-CN" sz="1600" dirty="0">
                <a:solidFill>
                  <a:srgbClr val="000000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  <a:hlinkClick r:id="rId4"/>
              </a:rPr>
              <a:t>https://github.com/KusionStack/karpor/issues/458</a:t>
            </a:r>
            <a:endParaRPr lang="en-US" altLang="zh-CN" sz="1600" dirty="0">
              <a:solidFill>
                <a:srgbClr val="000000"/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zh-CN" sz="1600" dirty="0">
                <a:solidFill>
                  <a:srgbClr val="000000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Cluster registration with GitOps and Terraform: </a:t>
            </a:r>
            <a:r>
              <a:rPr lang="en" altLang="zh-CN" sz="1600" dirty="0">
                <a:solidFill>
                  <a:srgbClr val="000000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  <a:hlinkClick r:id="rId5"/>
              </a:rPr>
              <a:t>https://github.com/KusionStack/karpor/issues/790</a:t>
            </a:r>
            <a:endParaRPr lang="en-US" altLang="zh-CN" sz="1600" dirty="0">
              <a:solidFill>
                <a:srgbClr val="000000"/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zh-CN" sz="1600" dirty="0">
                <a:solidFill>
                  <a:srgbClr val="000000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Scaling</a:t>
            </a:r>
            <a:r>
              <a:rPr lang="en-US" altLang="zh-CN" sz="16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: Optimizations in large-cluster adoption - </a:t>
            </a:r>
            <a:r>
              <a:rPr lang="en" altLang="zh-CN" sz="1600" dirty="0">
                <a:solidFill>
                  <a:srgbClr val="000000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  <a:hlinkClick r:id="rId6"/>
              </a:rPr>
              <a:t>https://github.com/KusionStack/karpor/issues/787</a:t>
            </a:r>
            <a:endParaRPr lang="en-US" altLang="zh-CN" sz="1600" dirty="0">
              <a:solidFill>
                <a:srgbClr val="000000"/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1600" dirty="0">
                <a:solidFill>
                  <a:srgbClr val="000000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Feel free to join us!</a:t>
            </a:r>
            <a:endParaRPr lang="zh-CN" altLang="en-US" sz="1600" dirty="0"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  <p:pic>
        <p:nvPicPr>
          <p:cNvPr id="3" name="图形 2" descr="飞机 纯色填充">
            <a:extLst>
              <a:ext uri="{FF2B5EF4-FFF2-40B4-BE49-F238E27FC236}">
                <a16:creationId xmlns:a16="http://schemas.microsoft.com/office/drawing/2014/main" id="{3B594537-D91E-2224-88D6-8B1131D72A6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43148" y="1602725"/>
            <a:ext cx="347745" cy="347745"/>
          </a:xfrm>
          <a:prstGeom prst="rect">
            <a:avLst/>
          </a:prstGeom>
        </p:spPr>
      </p:pic>
      <p:pic>
        <p:nvPicPr>
          <p:cNvPr id="4" name="图形 3" descr="书籍 纯色填充">
            <a:extLst>
              <a:ext uri="{FF2B5EF4-FFF2-40B4-BE49-F238E27FC236}">
                <a16:creationId xmlns:a16="http://schemas.microsoft.com/office/drawing/2014/main" id="{465C53D3-F7AA-B8A8-5319-E990EDD95F6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43148" y="1118583"/>
            <a:ext cx="347745" cy="347745"/>
          </a:xfrm>
          <a:prstGeom prst="rect">
            <a:avLst/>
          </a:prstGeom>
        </p:spPr>
      </p:pic>
      <p:pic>
        <p:nvPicPr>
          <p:cNvPr id="5" name="图形 4" descr="蝴蝶 纯色填充">
            <a:extLst>
              <a:ext uri="{FF2B5EF4-FFF2-40B4-BE49-F238E27FC236}">
                <a16:creationId xmlns:a16="http://schemas.microsoft.com/office/drawing/2014/main" id="{BC1C7EA6-BF5F-59B5-B4BA-15F0232637B9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74186" y="2492244"/>
            <a:ext cx="457200" cy="457200"/>
          </a:xfrm>
          <a:prstGeom prst="rect">
            <a:avLst/>
          </a:prstGeom>
        </p:spPr>
      </p:pic>
      <p:pic>
        <p:nvPicPr>
          <p:cNvPr id="11" name="图形 10" descr="照相机 纯色填充">
            <a:extLst>
              <a:ext uri="{FF2B5EF4-FFF2-40B4-BE49-F238E27FC236}">
                <a16:creationId xmlns:a16="http://schemas.microsoft.com/office/drawing/2014/main" id="{4D2E4260-F3B9-32F7-E25C-725F3915826A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528667" y="2054376"/>
            <a:ext cx="354985" cy="354985"/>
          </a:xfrm>
          <a:prstGeom prst="rect">
            <a:avLst/>
          </a:prstGeom>
        </p:spPr>
      </p:pic>
      <p:pic>
        <p:nvPicPr>
          <p:cNvPr id="12" name="图形 11" descr="气球 纯色填充">
            <a:extLst>
              <a:ext uri="{FF2B5EF4-FFF2-40B4-BE49-F238E27FC236}">
                <a16:creationId xmlns:a16="http://schemas.microsoft.com/office/drawing/2014/main" id="{266256FE-F797-04E3-049A-218D0E22A285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522082" y="3032327"/>
            <a:ext cx="354985" cy="354985"/>
          </a:xfrm>
          <a:prstGeom prst="rect">
            <a:avLst/>
          </a:prstGeom>
        </p:spPr>
      </p:pic>
      <p:pic>
        <p:nvPicPr>
          <p:cNvPr id="20" name="图片 19">
            <a:extLst>
              <a:ext uri="{FF2B5EF4-FFF2-40B4-BE49-F238E27FC236}">
                <a16:creationId xmlns:a16="http://schemas.microsoft.com/office/drawing/2014/main" id="{8BA18FFB-4884-3E1E-31C2-5476BB6654C7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479403" y="3032327"/>
            <a:ext cx="7020580" cy="3570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27523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4" name="文本框 6"/>
          <p:cNvSpPr txBox="1"/>
          <p:nvPr/>
        </p:nvSpPr>
        <p:spPr>
          <a:xfrm>
            <a:off x="385763" y="171805"/>
            <a:ext cx="672490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600" b="1" dirty="0">
                <a:solidFill>
                  <a:schemeClr val="bg1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rPr>
              <a:t>Follow us for the latest events!</a:t>
            </a:r>
            <a:endParaRPr kumimoji="1" lang="zh-CN" altLang="en-US" sz="2600" b="1" dirty="0">
              <a:solidFill>
                <a:schemeClr val="bg1"/>
              </a:solidFill>
              <a:latin typeface="Alibaba PuHuiTi M" pitchFamily="18" charset="-122"/>
              <a:ea typeface="Alibaba PuHuiTi M" pitchFamily="18" charset="-122"/>
              <a:cs typeface="Alibaba PuHuiTi M" pitchFamily="18" charset="-122"/>
            </a:endParaRPr>
          </a:p>
        </p:txBody>
      </p:sp>
      <p:sp>
        <p:nvSpPr>
          <p:cNvPr id="1048605" name="矩形 7"/>
          <p:cNvSpPr/>
          <p:nvPr/>
        </p:nvSpPr>
        <p:spPr>
          <a:xfrm>
            <a:off x="474186" y="776141"/>
            <a:ext cx="752690" cy="36000"/>
          </a:xfrm>
          <a:prstGeom prst="rect">
            <a:avLst/>
          </a:prstGeom>
          <a:solidFill>
            <a:srgbClr val="00F1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/>
              <a:t> </a:t>
            </a:r>
          </a:p>
        </p:txBody>
      </p:sp>
      <p:sp>
        <p:nvSpPr>
          <p:cNvPr id="1048606" name="矩形 8"/>
          <p:cNvSpPr/>
          <p:nvPr/>
        </p:nvSpPr>
        <p:spPr>
          <a:xfrm>
            <a:off x="474186" y="776140"/>
            <a:ext cx="11412000" cy="18000"/>
          </a:xfrm>
          <a:prstGeom prst="rect">
            <a:avLst/>
          </a:prstGeom>
          <a:solidFill>
            <a:srgbClr val="00F1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/>
              <a:t> 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A88D7E1F-7A88-FAE7-7CF6-4B6DD392E238}"/>
              </a:ext>
            </a:extLst>
          </p:cNvPr>
          <p:cNvSpPr txBox="1">
            <a:spLocks/>
          </p:cNvSpPr>
          <p:nvPr/>
        </p:nvSpPr>
        <p:spPr>
          <a:xfrm>
            <a:off x="428298" y="1275617"/>
            <a:ext cx="8914862" cy="513124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1" lang="en-US" sz="1800" dirty="0">
                <a:solidFill>
                  <a:prstClr val="black"/>
                </a:solidFill>
                <a:latin typeface="PingFang SC Medium" panose="020B0400000000000000" pitchFamily="34" charset="-122"/>
                <a:ea typeface="PingFang SC Medium" panose="020B0400000000000000" pitchFamily="34" charset="-122"/>
              </a:rPr>
              <a:t>Website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ingFang SC Medium" panose="020B0400000000000000" pitchFamily="34" charset="-122"/>
                <a:ea typeface="PingFang SC Medium" panose="020B0400000000000000" pitchFamily="34" charset="-122"/>
                <a:cs typeface="Alibaba PuHuiTi M" pitchFamily="18" charset="-122"/>
                <a:hlinkClick r:id="rId3"/>
              </a:rPr>
              <a:t>https://kusionstack.io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libaba PuHuiTi M" pitchFamily="18" charset="-122"/>
              <a:ea typeface="Alibaba PuHuiTi M" pitchFamily="18" charset="-122"/>
              <a:cs typeface="Alibaba PuHuiTi M" pitchFamily="18" charset="-122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1" lang="en-US" altLang="zh-CN" sz="1800" dirty="0">
                <a:solidFill>
                  <a:prstClr val="black"/>
                </a:solidFill>
                <a:latin typeface="PingFang SC Medium" panose="020B0400000000000000" pitchFamily="34" charset="-122"/>
                <a:ea typeface="PingFang SC Medium" panose="020B0400000000000000" pitchFamily="34" charset="-122"/>
              </a:rPr>
              <a:t>Github</a:t>
            </a:r>
            <a:r>
              <a:rPr lang="en-US" altLang="zh-CN" sz="1800" dirty="0">
                <a:solidFill>
                  <a:prstClr val="black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rPr>
              <a:t> 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libaba PuHuiTi M" pitchFamily="18" charset="-122"/>
              <a:ea typeface="Alibaba PuHuiTi M" pitchFamily="18" charset="-122"/>
              <a:cs typeface="Alibaba PuHuiTi M" pitchFamily="18" charset="-122"/>
            </a:endParaRP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18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ingFang SC Medium" panose="020B0400000000000000" pitchFamily="34" charset="-122"/>
                <a:ea typeface="PingFang SC Medium" panose="020B0400000000000000" pitchFamily="34" charset="-122"/>
                <a:cs typeface="Alibaba PuHuiTi M" pitchFamily="18" charset="-122"/>
                <a:hlinkClick r:id="rId4"/>
              </a:rPr>
              <a:t>https://github.com/KusionStack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libaba PuHuiTi M" pitchFamily="18" charset="-122"/>
              <a:ea typeface="Alibaba PuHuiTi M" pitchFamily="18" charset="-122"/>
              <a:cs typeface="Alibaba PuHuiTi M" pitchFamily="18" charset="-122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1" lang="en-US" sz="1800" dirty="0">
                <a:solidFill>
                  <a:prstClr val="black"/>
                </a:solidFill>
                <a:latin typeface="PingFang SC Medium" panose="020B0400000000000000" pitchFamily="34" charset="-122"/>
                <a:ea typeface="PingFang SC Medium" panose="020B0400000000000000" pitchFamily="34" charset="-122"/>
              </a:rPr>
              <a:t>Slack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ingFang SC Medium" panose="020B0400000000000000" pitchFamily="34" charset="-122"/>
                <a:ea typeface="PingFang SC Medium" panose="020B0400000000000000" pitchFamily="34" charset="-122"/>
                <a:cs typeface="Alibaba PuHuiTi M" pitchFamily="18" charset="-122"/>
                <a:hlinkClick r:id="rId5"/>
              </a:rPr>
              <a:t>https://</a:t>
            </a:r>
            <a:r>
              <a:rPr lang="en-US" sz="1800" dirty="0">
                <a:solidFill>
                  <a:prstClr val="black"/>
                </a:solidFill>
                <a:latin typeface="PingFang SC Medium" panose="020B0400000000000000" pitchFamily="34" charset="-122"/>
                <a:ea typeface="PingFang SC Medium" panose="020B0400000000000000" pitchFamily="34" charset="-122"/>
                <a:cs typeface="Alibaba PuHuiTi M" pitchFamily="18" charset="-122"/>
                <a:hlinkClick r:id="rId5"/>
              </a:rPr>
              <a:t>kusionstack.slack.com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libaba PuHuiTi M" pitchFamily="18" charset="-122"/>
              <a:ea typeface="Alibaba PuHuiTi M" pitchFamily="18" charset="-122"/>
              <a:cs typeface="Alibaba PuHuiTi M" pitchFamily="18" charset="-122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1" lang="en-US" altLang="zh-CN" sz="1800" dirty="0">
                <a:solidFill>
                  <a:prstClr val="black"/>
                </a:solidFill>
                <a:latin typeface="PingFang SC Medium" panose="020B0400000000000000" pitchFamily="34" charset="-122"/>
                <a:ea typeface="PingFang SC Medium" panose="020B0400000000000000" pitchFamily="34" charset="-122"/>
              </a:rPr>
              <a:t>Medium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18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ingFang SC Medium" panose="020B0400000000000000" pitchFamily="34" charset="-122"/>
                <a:ea typeface="PingFang SC Medium" panose="020B0400000000000000" pitchFamily="34" charset="-122"/>
                <a:cs typeface="Alibaba PuHuiTi M" pitchFamily="18" charset="-122"/>
                <a:hlinkClick r:id="rId6"/>
              </a:rPr>
              <a:t>https://blog.kusionstack.io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libaba PuHuiTi M" pitchFamily="18" charset="-122"/>
              <a:ea typeface="Alibaba PuHuiTi M" pitchFamily="18" charset="-122"/>
              <a:cs typeface="Alibaba PuHuiTi M" pitchFamily="18" charset="-122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1" lang="en-US" sz="1800" dirty="0">
                <a:solidFill>
                  <a:prstClr val="black"/>
                </a:solidFill>
                <a:latin typeface="PingFang SC Medium" panose="020B0400000000000000" pitchFamily="34" charset="-122"/>
                <a:ea typeface="PingFang SC Medium" panose="020B0400000000000000" pitchFamily="34" charset="-122"/>
              </a:rPr>
              <a:t>Twitter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ingFang SC Medium" panose="020B0400000000000000" pitchFamily="34" charset="-122"/>
                <a:ea typeface="PingFang SC Medium" panose="020B0400000000000000" pitchFamily="34" charset="-122"/>
                <a:cs typeface="Alibaba PuHuiTi M" pitchFamily="18" charset="-122"/>
                <a:hlinkClick r:id="rId7"/>
              </a:rPr>
              <a:t>@</a:t>
            </a:r>
            <a:r>
              <a:rPr kumimoji="0" lang="en-US" altLang="zh-CN" sz="18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ingFang SC Medium" panose="020B0400000000000000" pitchFamily="34" charset="-122"/>
                <a:ea typeface="PingFang SC Medium" panose="020B0400000000000000" pitchFamily="34" charset="-122"/>
                <a:cs typeface="Alibaba PuHuiTi M" pitchFamily="18" charset="-122"/>
                <a:hlinkClick r:id="rId7"/>
              </a:rPr>
              <a:t>KusionStack</a:t>
            </a:r>
            <a:endParaRPr kumimoji="0" lang="en-US" sz="180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ingFang SC Medium" panose="020B0400000000000000" pitchFamily="34" charset="-122"/>
              <a:ea typeface="PingFang SC Medium" panose="020B0400000000000000" pitchFamily="34" charset="-122"/>
              <a:cs typeface="Alibaba PuHuiTi M" pitchFamily="18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libaba PuHuiTi M" pitchFamily="18" charset="-122"/>
              <a:ea typeface="Alibaba PuHuiTi M" pitchFamily="18" charset="-122"/>
              <a:cs typeface="Alibaba PuHuiTi M" pitchFamily="18" charset="-122"/>
            </a:endParaRPr>
          </a:p>
        </p:txBody>
      </p:sp>
      <p:pic>
        <p:nvPicPr>
          <p:cNvPr id="7" name="Picture 7">
            <a:extLst>
              <a:ext uri="{FF2B5EF4-FFF2-40B4-BE49-F238E27FC236}">
                <a16:creationId xmlns:a16="http://schemas.microsoft.com/office/drawing/2014/main" id="{468DC1F1-17B4-B192-7562-6AE254F5804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69689" y="562620"/>
            <a:ext cx="4684001" cy="2634751"/>
          </a:xfrm>
          <a:prstGeom prst="rect">
            <a:avLst/>
          </a:prstGeom>
        </p:spPr>
      </p:pic>
      <p:pic>
        <p:nvPicPr>
          <p:cNvPr id="9" name="Picture 6">
            <a:extLst>
              <a:ext uri="{FF2B5EF4-FFF2-40B4-BE49-F238E27FC236}">
                <a16:creationId xmlns:a16="http://schemas.microsoft.com/office/drawing/2014/main" id="{A587C958-A73C-13B3-9CB3-56C3079D702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878366" y="2692071"/>
            <a:ext cx="2836930" cy="3632330"/>
          </a:xfrm>
          <a:prstGeom prst="rect">
            <a:avLst/>
          </a:prstGeom>
        </p:spPr>
      </p:pic>
      <p:sp>
        <p:nvSpPr>
          <p:cNvPr id="10" name="TextBox 12">
            <a:extLst>
              <a:ext uri="{FF2B5EF4-FFF2-40B4-BE49-F238E27FC236}">
                <a16:creationId xmlns:a16="http://schemas.microsoft.com/office/drawing/2014/main" id="{E40764D1-A0A3-D77E-21A1-E00D64CDDF30}"/>
              </a:ext>
            </a:extLst>
          </p:cNvPr>
          <p:cNvSpPr txBox="1"/>
          <p:nvPr/>
        </p:nvSpPr>
        <p:spPr>
          <a:xfrm>
            <a:off x="6015585" y="3542562"/>
            <a:ext cx="199356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libaba PuHuiTi 2.0 55 Regular" pitchFamily="18" charset="-122"/>
                <a:ea typeface="Alibaba PuHuiTi 2.0 55 Regular" pitchFamily="18" charset="-122"/>
                <a:cs typeface="Alibaba PuHuiTi 2.0 55 Regular" pitchFamily="18" charset="-122"/>
              </a:rPr>
              <a:t>WeChat Group Invitation</a:t>
            </a:r>
            <a:endParaRPr lang="en-US" sz="2000" dirty="0">
              <a:solidFill>
                <a:schemeClr val="tx1"/>
              </a:solidFill>
              <a:latin typeface="Alibaba PuHuiTi M" pitchFamily="18" charset="-122"/>
              <a:ea typeface="Alibaba PuHuiTi M" pitchFamily="18" charset="-122"/>
              <a:cs typeface="Alibaba PuHuiTi M" pitchFamily="18" charset="-122"/>
            </a:endParaRPr>
          </a:p>
        </p:txBody>
      </p:sp>
      <p:sp>
        <p:nvSpPr>
          <p:cNvPr id="14" name="TextBox 22">
            <a:extLst>
              <a:ext uri="{FF2B5EF4-FFF2-40B4-BE49-F238E27FC236}">
                <a16:creationId xmlns:a16="http://schemas.microsoft.com/office/drawing/2014/main" id="{C28C5CE4-60DE-6016-C128-71A3B5B4E464}"/>
              </a:ext>
            </a:extLst>
          </p:cNvPr>
          <p:cNvSpPr txBox="1"/>
          <p:nvPr/>
        </p:nvSpPr>
        <p:spPr>
          <a:xfrm>
            <a:off x="9185953" y="2209499"/>
            <a:ext cx="222175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kern="1200" dirty="0">
                <a:solidFill>
                  <a:schemeClr val="tx1"/>
                </a:solidFill>
                <a:latin typeface="Alibaba PuHuiTi 2.0 55 Regular" pitchFamily="18" charset="-122"/>
                <a:ea typeface="Alibaba PuHuiTi 2.0 55 Regular" pitchFamily="18" charset="-122"/>
                <a:cs typeface="Alibaba PuHuiTi 2.0 55 Regular" pitchFamily="18" charset="-122"/>
              </a:rPr>
              <a:t>Ding Group Chat</a:t>
            </a:r>
            <a:endParaRPr lang="en-US" sz="2000" dirty="0">
              <a:solidFill>
                <a:schemeClr val="tx1"/>
              </a:solidFill>
              <a:latin typeface="Alibaba PuHuiTi M" pitchFamily="18" charset="-122"/>
              <a:ea typeface="Alibaba PuHuiTi M" pitchFamily="18" charset="-122"/>
              <a:cs typeface="Alibaba PuHuiTi M" pitchFamily="18" charset="-122"/>
            </a:endParaRPr>
          </a:p>
        </p:txBody>
      </p:sp>
      <p:pic>
        <p:nvPicPr>
          <p:cNvPr id="15" name="图片 11">
            <a:extLst>
              <a:ext uri="{FF2B5EF4-FFF2-40B4-BE49-F238E27FC236}">
                <a16:creationId xmlns:a16="http://schemas.microsoft.com/office/drawing/2014/main" id="{D2D2C97F-E3A7-7D57-CC05-B46A8EA58A5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29134" y="4840365"/>
            <a:ext cx="4639412" cy="1484036"/>
          </a:xfrm>
          <a:prstGeom prst="rect">
            <a:avLst/>
          </a:prstGeom>
        </p:spPr>
      </p:pic>
      <p:pic>
        <p:nvPicPr>
          <p:cNvPr id="17" name="Picture 4">
            <a:extLst>
              <a:ext uri="{FF2B5EF4-FFF2-40B4-BE49-F238E27FC236}">
                <a16:creationId xmlns:a16="http://schemas.microsoft.com/office/drawing/2014/main" id="{968BF820-8B46-5753-CF69-C52FB4A4AE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5585" y="4321498"/>
            <a:ext cx="1993565" cy="20029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3572700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7" name="文本框 1"/>
          <p:cNvSpPr txBox="1"/>
          <p:nvPr/>
        </p:nvSpPr>
        <p:spPr>
          <a:xfrm>
            <a:off x="640245" y="2414789"/>
            <a:ext cx="47188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3600" dirty="0">
                <a:solidFill>
                  <a:schemeClr val="bg1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rPr>
              <a:t>Thanks</a:t>
            </a:r>
            <a:r>
              <a:rPr kumimoji="1" lang="zh-CN" altLang="en-US" sz="3600" dirty="0">
                <a:solidFill>
                  <a:schemeClr val="bg1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rPr>
              <a:t> </a:t>
            </a:r>
            <a:r>
              <a:rPr kumimoji="1" lang="en-US" altLang="zh-CN" sz="3600" dirty="0">
                <a:solidFill>
                  <a:schemeClr val="bg1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rPr>
              <a:t>for</a:t>
            </a:r>
            <a:r>
              <a:rPr kumimoji="1" lang="zh-CN" altLang="en-US" sz="3600" dirty="0">
                <a:solidFill>
                  <a:schemeClr val="bg1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rPr>
              <a:t> </a:t>
            </a:r>
            <a:r>
              <a:rPr kumimoji="1" lang="en-US" altLang="zh-CN" sz="3600" dirty="0">
                <a:solidFill>
                  <a:schemeClr val="bg1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rPr>
              <a:t>listening!</a:t>
            </a:r>
            <a:endParaRPr kumimoji="1" lang="zh-CN" altLang="en-US" sz="3600" dirty="0">
              <a:solidFill>
                <a:schemeClr val="bg1"/>
              </a:solidFill>
              <a:latin typeface="Alibaba PuHuiTi M" pitchFamily="18" charset="-122"/>
              <a:ea typeface="Alibaba PuHuiTi M" pitchFamily="18" charset="-122"/>
              <a:cs typeface="Alibaba PuHuiTi M" pitchFamily="18" charset="-122"/>
            </a:endParaRPr>
          </a:p>
        </p:txBody>
      </p:sp>
      <p:sp>
        <p:nvSpPr>
          <p:cNvPr id="1048608" name="文本框 2"/>
          <p:cNvSpPr txBox="1"/>
          <p:nvPr/>
        </p:nvSpPr>
        <p:spPr>
          <a:xfrm>
            <a:off x="640245" y="3061120"/>
            <a:ext cx="143981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400" dirty="0">
                <a:solidFill>
                  <a:srgbClr val="00F1E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rPr>
              <a:t>THANKS</a:t>
            </a:r>
            <a:endParaRPr kumimoji="1" lang="zh-CN" altLang="en-US" sz="2400" dirty="0">
              <a:solidFill>
                <a:srgbClr val="00F1E6"/>
              </a:solidFill>
              <a:latin typeface="Alibaba PuHuiTi M" pitchFamily="18" charset="-122"/>
              <a:ea typeface="Alibaba PuHuiTi M" pitchFamily="18" charset="-122"/>
              <a:cs typeface="Alibaba PuHuiTi M" pitchFamily="18" charset="-122"/>
            </a:endParaRPr>
          </a:p>
        </p:txBody>
      </p:sp>
      <p:sp>
        <p:nvSpPr>
          <p:cNvPr id="1048609" name="文本框 7"/>
          <p:cNvSpPr txBox="1"/>
          <p:nvPr/>
        </p:nvSpPr>
        <p:spPr>
          <a:xfrm>
            <a:off x="640245" y="6031203"/>
            <a:ext cx="97654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>
                <a:solidFill>
                  <a:srgbClr val="00F1E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2025.08.19</a:t>
            </a:r>
            <a:endParaRPr kumimoji="1" lang="zh-CN" altLang="en-US" sz="1200" dirty="0">
              <a:solidFill>
                <a:srgbClr val="00F1E6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TH Sarabun PSK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TH Sarabun PSK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{B0C475B5-6950-6C45-BE47-CC0F474CA435}tf10001124</Template>
  <TotalTime>726</TotalTime>
  <Words>994</Words>
  <Application>Microsoft Macintosh PowerPoint</Application>
  <PresentationFormat>宽屏</PresentationFormat>
  <Paragraphs>213</Paragraphs>
  <Slides>23</Slides>
  <Notes>16</Notes>
  <HiddenSlides>0</HiddenSlides>
  <MMClips>3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23</vt:i4>
      </vt:variant>
    </vt:vector>
  </HeadingPairs>
  <TitlesOfParts>
    <vt:vector size="33" baseType="lpstr">
      <vt:lpstr>等线</vt:lpstr>
      <vt:lpstr>等线 Light</vt:lpstr>
      <vt:lpstr>Microsoft YaHei</vt:lpstr>
      <vt:lpstr>Alibaba PuHuiTi 2.0 55 Regular</vt:lpstr>
      <vt:lpstr>Alibaba PuHuiTi M</vt:lpstr>
      <vt:lpstr>Alibaba PuHuiTi R</vt:lpstr>
      <vt:lpstr>PingFang SC Medium</vt:lpstr>
      <vt:lpstr>Arial</vt:lpstr>
      <vt:lpstr>Calibri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Forest</cp:lastModifiedBy>
  <cp:revision>184</cp:revision>
  <dcterms:created xsi:type="dcterms:W3CDTF">2025-04-13T11:57:06Z</dcterms:created>
  <dcterms:modified xsi:type="dcterms:W3CDTF">2025-08-18T09:40:18Z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761272ed31e24d07bc428fcdeef76e66</vt:lpwstr>
  </property>
</Properties>
</file>